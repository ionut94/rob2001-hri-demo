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21" d="100"/>
          <a:sy n="121" d="100"/>
        </p:scale>
        <p:origin x="74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4623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Today we'll walk through how to build a real web application using AI-assisted development. PandaQuest is a weather-based life sidequest generator for students, and we built it with Claude Code.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PandaQuest is designed specifically for students. It uses your real location and weather to generate small, fun activities. Sunny day? Go outside and sketch. Raining? Make a fancy hot drink by the window. It's gamified with XP and streaks to keep you coming back.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entire app is built with vanilla HTML, CSS, and JavaScript. No React, no Vue, no build tools. This makes it perfect for learning because you see exactly what's happening. The APIs we use are free and don't require API keys.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flow is: get location, fetch weather, categorize it, pick from the matching quest pool. Each weather category has both outdoor and indoor quests. If geolocation fails, we gracefully fall back to a default category.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mascot is pure SVG — no image files. This means it scales perfectly, loads instantly, and can be animated with CSS. Students can modify colors, add features, or create their own characters using the same shape primitives.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gamification isn't just fun — it's intentionally designed. Small achievable quests break the procrastination cycle. Weather-appropriate suggestions get students outside when it's nice and keep them cozy when it's not, directly addressing seasonal depression patterns.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real, in-demand web development skills. By building PandaQuest, you've touched CSS theming, modern visual effects, JavaScript async patterns, browser APIs, REST APIs, and SVG graphics. These transfer directly to professional projects.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workflow is: Describe, Generate, Review, Refine, Learn. Claude Code is a partner, not a replacement. The most important step is Review — read every line, understand what it does. Then Refine by testing and asking for specific fixes. Finally, Learn by modifying the code yourself.</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difference between a vague and specific prompt is night and day. The specific prompt told Claude: what the app does, who it's for, the mood/design, and a specific visual element. This gave Claude enough context to make smart design decisions across the entire app.</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most important slide. AI is a powerful learning accelerator, but only if you engage with the code it produces. Let it handle the tedious parts so you can focus on understanding the interesting parts. Always read, always modify, always experiment.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projects are ordered by difficulty. Start with the Mood Tracker — it uses the same localStorage and DOM skills from PandaQuest. The Pomodoro Timer adds timing logic. Habit Garden introduces more complex SVG. The last two introduce backend development and third-party integrations.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of these resources are free. MDN is your go-to reference for anything HTML, CSS, or JS. freeCodeCamp and The Odin Project are full curricula. JavaScript.info is the best deep-dive JS resource. And Claude Code is your AI development partner.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attending! The main takeaway: start with something small and fun, use AI as a learning partner, and build consistently. Every expert was once a beginner. Your PandaQuest journey starts now!</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1B4B"/>
        </a:solidFill>
        <a:effectLst/>
      </p:bgPr>
    </p:bg>
    <p:spTree>
      <p:nvGrpSpPr>
        <p:cNvPr id="1" name=""/>
        <p:cNvGrpSpPr/>
        <p:nvPr/>
      </p:nvGrpSpPr>
      <p:grpSpPr>
        <a:xfrm>
          <a:off x="0" y="0"/>
          <a:ext cx="0" cy="0"/>
          <a:chOff x="0" y="0"/>
          <a:chExt cx="0" cy="0"/>
        </a:xfrm>
      </p:grpSpPr>
      <p:sp>
        <p:nvSpPr>
          <p:cNvPr id="2" name="Oval 1"/>
          <p:cNvSpPr/>
          <p:nvPr/>
        </p:nvSpPr>
        <p:spPr>
          <a:xfrm>
            <a:off x="914400" y="457200"/>
            <a:ext cx="2743200" cy="2743200"/>
          </a:xfrm>
          <a:prstGeom prst="ellipse">
            <a:avLst/>
          </a:prstGeom>
          <a:solidFill>
            <a:srgbClr val="4C1D9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144000" y="4114800"/>
            <a:ext cx="3657600" cy="3657600"/>
          </a:xfrm>
          <a:prstGeom prst="ellipse">
            <a:avLst/>
          </a:prstGeom>
          <a:solidFill>
            <a:srgbClr val="4C1D9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315200" y="0"/>
            <a:ext cx="1828800" cy="1828800"/>
          </a:xfrm>
          <a:prstGeom prst="ellipse">
            <a:avLst/>
          </a:prstGeom>
          <a:solidFill>
            <a:srgbClr val="7C3AED">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1645920"/>
            <a:ext cx="9144000" cy="1097280"/>
          </a:xfrm>
          <a:prstGeom prst="rect">
            <a:avLst/>
          </a:prstGeom>
          <a:noFill/>
        </p:spPr>
        <p:txBody>
          <a:bodyPr wrap="square">
            <a:spAutoFit/>
          </a:bodyPr>
          <a:lstStyle/>
          <a:p>
            <a:pPr algn="ctr">
              <a:defRPr sz="4800" b="1">
                <a:solidFill>
                  <a:srgbClr val="FFFFFF"/>
                </a:solidFill>
                <a:latin typeface="Arial"/>
              </a:defRPr>
            </a:pPr>
            <a:r>
              <a:t>Building Web Apps with AI</a:t>
            </a:r>
          </a:p>
        </p:txBody>
      </p:sp>
      <p:sp>
        <p:nvSpPr>
          <p:cNvPr id="6" name="Rectangle 5"/>
          <p:cNvSpPr/>
          <p:nvPr/>
        </p:nvSpPr>
        <p:spPr>
          <a:xfrm>
            <a:off x="4572000" y="2834640"/>
            <a:ext cx="3047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3108960"/>
            <a:ext cx="9144000" cy="731520"/>
          </a:xfrm>
          <a:prstGeom prst="rect">
            <a:avLst/>
          </a:prstGeom>
          <a:noFill/>
        </p:spPr>
        <p:txBody>
          <a:bodyPr wrap="square">
            <a:spAutoFit/>
          </a:bodyPr>
          <a:lstStyle/>
          <a:p>
            <a:pPr algn="ctr">
              <a:defRPr sz="3200" b="0">
                <a:solidFill>
                  <a:srgbClr val="E9D5FF"/>
                </a:solidFill>
                <a:latin typeface="Arial"/>
              </a:defRPr>
            </a:pPr>
            <a:r>
              <a:t>The PandaQuest Story</a:t>
            </a:r>
          </a:p>
        </p:txBody>
      </p:sp>
      <p:sp>
        <p:nvSpPr>
          <p:cNvPr id="8" name="TextBox 7"/>
          <p:cNvSpPr txBox="1"/>
          <p:nvPr/>
        </p:nvSpPr>
        <p:spPr>
          <a:xfrm>
            <a:off x="1371600" y="3931920"/>
            <a:ext cx="9144000" cy="548640"/>
          </a:xfrm>
          <a:prstGeom prst="rect">
            <a:avLst/>
          </a:prstGeom>
          <a:noFill/>
        </p:spPr>
        <p:txBody>
          <a:bodyPr wrap="square">
            <a:spAutoFit/>
          </a:bodyPr>
          <a:lstStyle/>
          <a:p>
            <a:pPr algn="ctr">
              <a:defRPr sz="2000" b="0">
                <a:solidFill>
                  <a:srgbClr val="C4B5FD"/>
                </a:solidFill>
                <a:latin typeface="Arial"/>
              </a:defRPr>
            </a:pPr>
            <a:r>
              <a:t>From Idea to App with Claude Code</a:t>
            </a:r>
          </a:p>
        </p:txBody>
      </p:sp>
      <p:sp>
        <p:nvSpPr>
          <p:cNvPr id="9" name="TextBox 8"/>
          <p:cNvSpPr txBox="1"/>
          <p:nvPr/>
        </p:nvSpPr>
        <p:spPr>
          <a:xfrm>
            <a:off x="1371600" y="5669280"/>
            <a:ext cx="9144000" cy="457200"/>
          </a:xfrm>
          <a:prstGeom prst="rect">
            <a:avLst/>
          </a:prstGeom>
          <a:noFill/>
        </p:spPr>
        <p:txBody>
          <a:bodyPr wrap="square">
            <a:spAutoFit/>
          </a:bodyPr>
          <a:lstStyle/>
          <a:p>
            <a:pPr algn="ctr">
              <a:defRPr sz="1600" b="0">
                <a:solidFill>
                  <a:srgbClr val="C4B5FD"/>
                </a:solidFill>
                <a:latin typeface="Arial"/>
              </a:defRPr>
            </a:pPr>
            <a:r>
              <a:t>🐼  A student's guide to AI-assisted web development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1B4B"/>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7315200" cy="731520"/>
          </a:xfrm>
          <a:prstGeom prst="rect">
            <a:avLst/>
          </a:prstGeom>
          <a:noFill/>
        </p:spPr>
        <p:txBody>
          <a:bodyPr wrap="square">
            <a:spAutoFit/>
          </a:bodyPr>
          <a:lstStyle/>
          <a:p>
            <a:pPr algn="l">
              <a:defRPr sz="3600" b="1">
                <a:solidFill>
                  <a:srgbClr val="FFFFFF"/>
                </a:solidFill>
                <a:latin typeface="Arial"/>
              </a:defRPr>
            </a:pPr>
            <a:r>
              <a:t>What is PandaQuest?</a:t>
            </a:r>
          </a:p>
        </p:txBody>
      </p:sp>
      <p:sp>
        <p:nvSpPr>
          <p:cNvPr id="3" name="Rectangle 2"/>
          <p:cNvSpPr/>
          <p:nvPr/>
        </p:nvSpPr>
        <p:spPr>
          <a:xfrm>
            <a:off x="731520" y="1188720"/>
            <a:ext cx="1828800"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6400800" cy="4572000"/>
          </a:xfrm>
          <a:prstGeom prst="rect">
            <a:avLst/>
          </a:prstGeom>
          <a:noFill/>
        </p:spPr>
        <p:txBody>
          <a:bodyPr wrap="square">
            <a:spAutoFit/>
          </a:bodyPr>
          <a:lstStyle/>
          <a:p>
            <a:pPr>
              <a:spcAft>
                <a:spcPts val="800"/>
              </a:spcAft>
              <a:defRPr sz="2000">
                <a:solidFill>
                  <a:srgbClr val="FFFFFF"/>
                </a:solidFill>
                <a:latin typeface="Arial"/>
              </a:defRPr>
            </a:pPr>
            <a:r>
              <a:t>A weather-based life sidequest generator for students</a:t>
            </a:r>
          </a:p>
          <a:p>
            <a:pPr>
              <a:spcAft>
                <a:spcPts val="800"/>
              </a:spcAft>
              <a:defRPr sz="2000">
                <a:solidFill>
                  <a:srgbClr val="FFFFFF"/>
                </a:solidFill>
                <a:latin typeface="Arial"/>
              </a:defRPr>
            </a:pPr>
            <a:r>
              <a:t>Detects your location and fetches real-time weather data</a:t>
            </a:r>
          </a:p>
          <a:p>
            <a:pPr>
              <a:spcAft>
                <a:spcPts val="800"/>
              </a:spcAft>
              <a:defRPr sz="2000">
                <a:solidFill>
                  <a:srgbClr val="FFFFFF"/>
                </a:solidFill>
                <a:latin typeface="Arial"/>
              </a:defRPr>
            </a:pPr>
            <a:r>
              <a:t>Generates fun, achievable quests matched to conditions</a:t>
            </a:r>
          </a:p>
          <a:p>
            <a:pPr>
              <a:spcAft>
                <a:spcPts val="800"/>
              </a:spcAft>
              <a:defRPr sz="2000">
                <a:solidFill>
                  <a:srgbClr val="FFFFFF"/>
                </a:solidFill>
                <a:latin typeface="Arial"/>
              </a:defRPr>
            </a:pPr>
            <a:r>
              <a:t>Helps balance study and life with small, rewarding activities</a:t>
            </a:r>
          </a:p>
          <a:p>
            <a:pPr>
              <a:spcAft>
                <a:spcPts val="800"/>
              </a:spcAft>
              <a:defRPr sz="2000">
                <a:solidFill>
                  <a:srgbClr val="FFFFFF"/>
                </a:solidFill>
                <a:latin typeface="Arial"/>
              </a:defRPr>
            </a:pPr>
            <a:r>
              <a:t>Combats procrastination with gamification (XP, streaks)</a:t>
            </a:r>
          </a:p>
          <a:p>
            <a:pPr>
              <a:spcAft>
                <a:spcPts val="800"/>
              </a:spcAft>
              <a:defRPr sz="2000">
                <a:solidFill>
                  <a:srgbClr val="FFFFFF"/>
                </a:solidFill>
                <a:latin typeface="Arial"/>
              </a:defRPr>
            </a:pPr>
            <a:r>
              <a:t>Fights seasonal depression with weather-appropriate activities</a:t>
            </a:r>
          </a:p>
          <a:p>
            <a:pPr>
              <a:spcAft>
                <a:spcPts val="800"/>
              </a:spcAft>
              <a:defRPr sz="2000">
                <a:solidFill>
                  <a:srgbClr val="FFFFFF"/>
                </a:solidFill>
                <a:latin typeface="Arial"/>
              </a:defRPr>
            </a:pPr>
            <a:r>
              <a:t>Features an adorable purple panda mascot as your guide</a:t>
            </a:r>
          </a:p>
        </p:txBody>
      </p:sp>
      <p:sp>
        <p:nvSpPr>
          <p:cNvPr id="5" name="Rounded Rectangle 4"/>
          <p:cNvSpPr/>
          <p:nvPr/>
        </p:nvSpPr>
        <p:spPr>
          <a:xfrm>
            <a:off x="8686800" y="1645920"/>
            <a:ext cx="2560320" cy="914400"/>
          </a:xfrm>
          <a:prstGeom prst="roundRect">
            <a:avLst/>
          </a:prstGeom>
          <a:solidFill>
            <a:srgbClr val="4C1D95">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0" y="1696720"/>
            <a:ext cx="731520" cy="822960"/>
          </a:xfrm>
          <a:prstGeom prst="rect">
            <a:avLst/>
          </a:prstGeom>
          <a:noFill/>
        </p:spPr>
        <p:txBody>
          <a:bodyPr wrap="square">
            <a:spAutoFit/>
          </a:bodyPr>
          <a:lstStyle/>
          <a:p>
            <a:pPr algn="ctr">
              <a:defRPr sz="2800" b="0">
                <a:solidFill>
                  <a:srgbClr val="FFFFFF"/>
                </a:solidFill>
                <a:latin typeface="Arial"/>
              </a:defRPr>
            </a:pPr>
            <a:r>
              <a:t>☀️</a:t>
            </a:r>
          </a:p>
        </p:txBody>
      </p:sp>
      <p:sp>
        <p:nvSpPr>
          <p:cNvPr id="7" name="TextBox 6"/>
          <p:cNvSpPr txBox="1"/>
          <p:nvPr/>
        </p:nvSpPr>
        <p:spPr>
          <a:xfrm>
            <a:off x="9509760" y="1747520"/>
            <a:ext cx="1645920" cy="822960"/>
          </a:xfrm>
          <a:prstGeom prst="rect">
            <a:avLst/>
          </a:prstGeom>
          <a:noFill/>
        </p:spPr>
        <p:txBody>
          <a:bodyPr wrap="square">
            <a:spAutoFit/>
          </a:bodyPr>
          <a:lstStyle/>
          <a:p>
            <a:pPr algn="l">
              <a:defRPr sz="1400" b="1">
                <a:solidFill>
                  <a:srgbClr val="E9D5FF"/>
                </a:solidFill>
                <a:latin typeface="Arial"/>
              </a:defRPr>
            </a:pPr>
            <a:r>
              <a:t>Weather</a:t>
            </a:r>
            <a:br/>
            <a:r>
              <a:t>Adaptive</a:t>
            </a:r>
          </a:p>
        </p:txBody>
      </p:sp>
      <p:sp>
        <p:nvSpPr>
          <p:cNvPr id="8" name="Rounded Rectangle 7"/>
          <p:cNvSpPr/>
          <p:nvPr/>
        </p:nvSpPr>
        <p:spPr>
          <a:xfrm>
            <a:off x="8686800" y="2834640"/>
            <a:ext cx="2560320" cy="914400"/>
          </a:xfrm>
          <a:prstGeom prst="roundRect">
            <a:avLst/>
          </a:prstGeom>
          <a:solidFill>
            <a:srgbClr val="4C1D95">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0" y="2885440"/>
            <a:ext cx="731520" cy="822960"/>
          </a:xfrm>
          <a:prstGeom prst="rect">
            <a:avLst/>
          </a:prstGeom>
          <a:noFill/>
        </p:spPr>
        <p:txBody>
          <a:bodyPr wrap="square">
            <a:spAutoFit/>
          </a:bodyPr>
          <a:lstStyle/>
          <a:p>
            <a:pPr algn="ctr">
              <a:defRPr sz="2800" b="0">
                <a:solidFill>
                  <a:srgbClr val="FFFFFF"/>
                </a:solidFill>
                <a:latin typeface="Arial"/>
              </a:defRPr>
            </a:pPr>
            <a:r>
              <a:t>⭐</a:t>
            </a:r>
          </a:p>
        </p:txBody>
      </p:sp>
      <p:sp>
        <p:nvSpPr>
          <p:cNvPr id="10" name="TextBox 9"/>
          <p:cNvSpPr txBox="1"/>
          <p:nvPr/>
        </p:nvSpPr>
        <p:spPr>
          <a:xfrm>
            <a:off x="9509760" y="2936240"/>
            <a:ext cx="1645920" cy="822960"/>
          </a:xfrm>
          <a:prstGeom prst="rect">
            <a:avLst/>
          </a:prstGeom>
          <a:noFill/>
        </p:spPr>
        <p:txBody>
          <a:bodyPr wrap="square">
            <a:spAutoFit/>
          </a:bodyPr>
          <a:lstStyle/>
          <a:p>
            <a:pPr algn="l">
              <a:defRPr sz="1400" b="1">
                <a:solidFill>
                  <a:srgbClr val="E9D5FF"/>
                </a:solidFill>
                <a:latin typeface="Arial"/>
              </a:defRPr>
            </a:pPr>
            <a:r>
              <a:t>XP &amp;</a:t>
            </a:r>
            <a:br/>
            <a:r>
              <a:t>Streaks</a:t>
            </a:r>
          </a:p>
        </p:txBody>
      </p:sp>
      <p:sp>
        <p:nvSpPr>
          <p:cNvPr id="11" name="Rounded Rectangle 10"/>
          <p:cNvSpPr/>
          <p:nvPr/>
        </p:nvSpPr>
        <p:spPr>
          <a:xfrm>
            <a:off x="8686800" y="4023360"/>
            <a:ext cx="2560320" cy="914400"/>
          </a:xfrm>
          <a:prstGeom prst="roundRect">
            <a:avLst/>
          </a:prstGeom>
          <a:solidFill>
            <a:srgbClr val="4C1D95">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78240" y="4074160"/>
            <a:ext cx="731520" cy="822960"/>
          </a:xfrm>
          <a:prstGeom prst="rect">
            <a:avLst/>
          </a:prstGeom>
          <a:noFill/>
        </p:spPr>
        <p:txBody>
          <a:bodyPr wrap="square">
            <a:spAutoFit/>
          </a:bodyPr>
          <a:lstStyle/>
          <a:p>
            <a:pPr algn="ctr">
              <a:defRPr sz="2800" b="0">
                <a:solidFill>
                  <a:srgbClr val="FFFFFF"/>
                </a:solidFill>
                <a:latin typeface="Arial"/>
              </a:defRPr>
            </a:pPr>
            <a:r>
              <a:t>🐼</a:t>
            </a:r>
          </a:p>
        </p:txBody>
      </p:sp>
      <p:sp>
        <p:nvSpPr>
          <p:cNvPr id="13" name="TextBox 12"/>
          <p:cNvSpPr txBox="1"/>
          <p:nvPr/>
        </p:nvSpPr>
        <p:spPr>
          <a:xfrm>
            <a:off x="9509760" y="4124960"/>
            <a:ext cx="1645920" cy="822960"/>
          </a:xfrm>
          <a:prstGeom prst="rect">
            <a:avLst/>
          </a:prstGeom>
          <a:noFill/>
        </p:spPr>
        <p:txBody>
          <a:bodyPr wrap="square">
            <a:spAutoFit/>
          </a:bodyPr>
          <a:lstStyle/>
          <a:p>
            <a:pPr algn="l">
              <a:defRPr sz="1400" b="1">
                <a:solidFill>
                  <a:srgbClr val="E9D5FF"/>
                </a:solidFill>
                <a:latin typeface="Arial"/>
              </a:defRPr>
            </a:pPr>
            <a:r>
              <a:t>Panda</a:t>
            </a:r>
            <a:br/>
            <a:r>
              <a:t>Mascot</a:t>
            </a:r>
          </a:p>
        </p:txBody>
      </p:sp>
      <p:sp>
        <p:nvSpPr>
          <p:cNvPr id="14" name="Rounded Rectangle 13"/>
          <p:cNvSpPr/>
          <p:nvPr/>
        </p:nvSpPr>
        <p:spPr>
          <a:xfrm>
            <a:off x="8686800" y="5212080"/>
            <a:ext cx="2560320" cy="914400"/>
          </a:xfrm>
          <a:prstGeom prst="roundRect">
            <a:avLst/>
          </a:prstGeom>
          <a:solidFill>
            <a:srgbClr val="4C1D95">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78240" y="5262880"/>
            <a:ext cx="731520" cy="822960"/>
          </a:xfrm>
          <a:prstGeom prst="rect">
            <a:avLst/>
          </a:prstGeom>
          <a:noFill/>
        </p:spPr>
        <p:txBody>
          <a:bodyPr wrap="square">
            <a:spAutoFit/>
          </a:bodyPr>
          <a:lstStyle/>
          <a:p>
            <a:pPr algn="ctr">
              <a:defRPr sz="2800" b="0">
                <a:solidFill>
                  <a:srgbClr val="FFFFFF"/>
                </a:solidFill>
                <a:latin typeface="Arial"/>
              </a:defRPr>
            </a:pPr>
            <a:r>
              <a:t>🎲</a:t>
            </a:r>
          </a:p>
        </p:txBody>
      </p:sp>
      <p:sp>
        <p:nvSpPr>
          <p:cNvPr id="16" name="TextBox 15"/>
          <p:cNvSpPr txBox="1"/>
          <p:nvPr/>
        </p:nvSpPr>
        <p:spPr>
          <a:xfrm>
            <a:off x="9509760" y="5313680"/>
            <a:ext cx="1645920" cy="822960"/>
          </a:xfrm>
          <a:prstGeom prst="rect">
            <a:avLst/>
          </a:prstGeom>
          <a:noFill/>
        </p:spPr>
        <p:txBody>
          <a:bodyPr wrap="square">
            <a:spAutoFit/>
          </a:bodyPr>
          <a:lstStyle/>
          <a:p>
            <a:pPr algn="l">
              <a:defRPr sz="1400" b="1">
                <a:solidFill>
                  <a:srgbClr val="E9D5FF"/>
                </a:solidFill>
                <a:latin typeface="Arial"/>
              </a:defRPr>
            </a:pPr>
            <a:r>
              <a:t>50+</a:t>
            </a:r>
            <a:br/>
            <a:r>
              <a:t>Quests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1B4B"/>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7315200" cy="731520"/>
          </a:xfrm>
          <a:prstGeom prst="rect">
            <a:avLst/>
          </a:prstGeom>
          <a:noFill/>
        </p:spPr>
        <p:txBody>
          <a:bodyPr wrap="square">
            <a:spAutoFit/>
          </a:bodyPr>
          <a:lstStyle/>
          <a:p>
            <a:pPr algn="l">
              <a:defRPr sz="3600" b="1">
                <a:solidFill>
                  <a:srgbClr val="FFFFFF"/>
                </a:solidFill>
                <a:latin typeface="Arial"/>
              </a:defRPr>
            </a:pPr>
            <a:r>
              <a:t>The Tech Stack</a:t>
            </a:r>
          </a:p>
        </p:txBody>
      </p:sp>
      <p:sp>
        <p:nvSpPr>
          <p:cNvPr id="3" name="Rectangle 2"/>
          <p:cNvSpPr/>
          <p:nvPr/>
        </p:nvSpPr>
        <p:spPr>
          <a:xfrm>
            <a:off x="731520" y="1188720"/>
            <a:ext cx="1828800"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554480"/>
            <a:ext cx="10515600" cy="77724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630680"/>
            <a:ext cx="2286000" cy="640080"/>
          </a:xfrm>
          <a:prstGeom prst="rect">
            <a:avLst/>
          </a:prstGeom>
          <a:noFill/>
        </p:spPr>
        <p:txBody>
          <a:bodyPr wrap="square">
            <a:spAutoFit/>
          </a:bodyPr>
          <a:lstStyle/>
          <a:p>
            <a:pPr algn="l">
              <a:defRPr sz="2200" b="1">
                <a:solidFill>
                  <a:srgbClr val="FBBF24"/>
                </a:solidFill>
                <a:latin typeface="Arial"/>
              </a:defRPr>
            </a:pPr>
            <a:r>
              <a:t>HTML5</a:t>
            </a:r>
          </a:p>
        </p:txBody>
      </p:sp>
      <p:sp>
        <p:nvSpPr>
          <p:cNvPr id="6" name="TextBox 5"/>
          <p:cNvSpPr txBox="1"/>
          <p:nvPr/>
        </p:nvSpPr>
        <p:spPr>
          <a:xfrm>
            <a:off x="3474720" y="1656080"/>
            <a:ext cx="7315200" cy="640080"/>
          </a:xfrm>
          <a:prstGeom prst="rect">
            <a:avLst/>
          </a:prstGeom>
          <a:noFill/>
        </p:spPr>
        <p:txBody>
          <a:bodyPr wrap="square">
            <a:spAutoFit/>
          </a:bodyPr>
          <a:lstStyle/>
          <a:p>
            <a:pPr algn="l">
              <a:defRPr sz="1800" b="0">
                <a:solidFill>
                  <a:srgbClr val="E9D5FF"/>
                </a:solidFill>
                <a:latin typeface="Arial"/>
              </a:defRPr>
            </a:pPr>
            <a:r>
              <a:t>Structure, semantic elements, embedded SVG mascot</a:t>
            </a:r>
          </a:p>
        </p:txBody>
      </p:sp>
      <p:sp>
        <p:nvSpPr>
          <p:cNvPr id="7" name="Rounded Rectangle 6"/>
          <p:cNvSpPr/>
          <p:nvPr/>
        </p:nvSpPr>
        <p:spPr>
          <a:xfrm>
            <a:off x="731520" y="2514600"/>
            <a:ext cx="10515600" cy="77724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590800"/>
            <a:ext cx="2286000" cy="640080"/>
          </a:xfrm>
          <a:prstGeom prst="rect">
            <a:avLst/>
          </a:prstGeom>
          <a:noFill/>
        </p:spPr>
        <p:txBody>
          <a:bodyPr wrap="square">
            <a:spAutoFit/>
          </a:bodyPr>
          <a:lstStyle/>
          <a:p>
            <a:pPr algn="l">
              <a:defRPr sz="2200" b="1">
                <a:solidFill>
                  <a:srgbClr val="FBBF24"/>
                </a:solidFill>
                <a:latin typeface="Arial"/>
              </a:defRPr>
            </a:pPr>
            <a:r>
              <a:t>CSS3</a:t>
            </a:r>
          </a:p>
        </p:txBody>
      </p:sp>
      <p:sp>
        <p:nvSpPr>
          <p:cNvPr id="9" name="TextBox 8"/>
          <p:cNvSpPr txBox="1"/>
          <p:nvPr/>
        </p:nvSpPr>
        <p:spPr>
          <a:xfrm>
            <a:off x="3474720" y="2616200"/>
            <a:ext cx="7315200" cy="640080"/>
          </a:xfrm>
          <a:prstGeom prst="rect">
            <a:avLst/>
          </a:prstGeom>
          <a:noFill/>
        </p:spPr>
        <p:txBody>
          <a:bodyPr wrap="square">
            <a:spAutoFit/>
          </a:bodyPr>
          <a:lstStyle/>
          <a:p>
            <a:pPr algn="l">
              <a:defRPr sz="1800" b="0">
                <a:solidFill>
                  <a:srgbClr val="E9D5FF"/>
                </a:solidFill>
                <a:latin typeface="Arial"/>
              </a:defRPr>
            </a:pPr>
            <a:r>
              <a:t>Glassmorphism, keyframe animations, responsive design</a:t>
            </a:r>
          </a:p>
        </p:txBody>
      </p:sp>
      <p:sp>
        <p:nvSpPr>
          <p:cNvPr id="10" name="Rounded Rectangle 9"/>
          <p:cNvSpPr/>
          <p:nvPr/>
        </p:nvSpPr>
        <p:spPr>
          <a:xfrm>
            <a:off x="731520" y="3474720"/>
            <a:ext cx="10515600" cy="77724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3550920"/>
            <a:ext cx="2286000" cy="640080"/>
          </a:xfrm>
          <a:prstGeom prst="rect">
            <a:avLst/>
          </a:prstGeom>
          <a:noFill/>
        </p:spPr>
        <p:txBody>
          <a:bodyPr wrap="square">
            <a:spAutoFit/>
          </a:bodyPr>
          <a:lstStyle/>
          <a:p>
            <a:pPr algn="l">
              <a:defRPr sz="2200" b="1">
                <a:solidFill>
                  <a:srgbClr val="FBBF24"/>
                </a:solidFill>
                <a:latin typeface="Arial"/>
              </a:defRPr>
            </a:pPr>
            <a:r>
              <a:t>JavaScript</a:t>
            </a:r>
          </a:p>
        </p:txBody>
      </p:sp>
      <p:sp>
        <p:nvSpPr>
          <p:cNvPr id="12" name="TextBox 11"/>
          <p:cNvSpPr txBox="1"/>
          <p:nvPr/>
        </p:nvSpPr>
        <p:spPr>
          <a:xfrm>
            <a:off x="3474720" y="3576320"/>
            <a:ext cx="7315200" cy="640080"/>
          </a:xfrm>
          <a:prstGeom prst="rect">
            <a:avLst/>
          </a:prstGeom>
          <a:noFill/>
        </p:spPr>
        <p:txBody>
          <a:bodyPr wrap="square">
            <a:spAutoFit/>
          </a:bodyPr>
          <a:lstStyle/>
          <a:p>
            <a:pPr algn="l">
              <a:defRPr sz="1800" b="0">
                <a:solidFill>
                  <a:srgbClr val="E9D5FF"/>
                </a:solidFill>
                <a:latin typeface="Arial"/>
              </a:defRPr>
            </a:pPr>
            <a:r>
              <a:t>DOM manipulation, Fetch API, async/await, localStorage</a:t>
            </a:r>
          </a:p>
        </p:txBody>
      </p:sp>
      <p:sp>
        <p:nvSpPr>
          <p:cNvPr id="13" name="Rounded Rectangle 12"/>
          <p:cNvSpPr/>
          <p:nvPr/>
        </p:nvSpPr>
        <p:spPr>
          <a:xfrm>
            <a:off x="731520" y="4434840"/>
            <a:ext cx="10515600" cy="77724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4511040"/>
            <a:ext cx="2286000" cy="640080"/>
          </a:xfrm>
          <a:prstGeom prst="rect">
            <a:avLst/>
          </a:prstGeom>
          <a:noFill/>
        </p:spPr>
        <p:txBody>
          <a:bodyPr wrap="square">
            <a:spAutoFit/>
          </a:bodyPr>
          <a:lstStyle/>
          <a:p>
            <a:pPr algn="l">
              <a:defRPr sz="2200" b="1">
                <a:solidFill>
                  <a:srgbClr val="FBBF24"/>
                </a:solidFill>
                <a:latin typeface="Arial"/>
              </a:defRPr>
            </a:pPr>
            <a:r>
              <a:t>Open-Meteo API</a:t>
            </a:r>
          </a:p>
        </p:txBody>
      </p:sp>
      <p:sp>
        <p:nvSpPr>
          <p:cNvPr id="15" name="TextBox 14"/>
          <p:cNvSpPr txBox="1"/>
          <p:nvPr/>
        </p:nvSpPr>
        <p:spPr>
          <a:xfrm>
            <a:off x="3474720" y="4536440"/>
            <a:ext cx="7315200" cy="640080"/>
          </a:xfrm>
          <a:prstGeom prst="rect">
            <a:avLst/>
          </a:prstGeom>
          <a:noFill/>
        </p:spPr>
        <p:txBody>
          <a:bodyPr wrap="square">
            <a:spAutoFit/>
          </a:bodyPr>
          <a:lstStyle/>
          <a:p>
            <a:pPr algn="l">
              <a:defRPr sz="1800" b="0">
                <a:solidFill>
                  <a:srgbClr val="E9D5FF"/>
                </a:solidFill>
                <a:latin typeface="Arial"/>
              </a:defRPr>
            </a:pPr>
            <a:r>
              <a:t>Free weather data — no API key required</a:t>
            </a:r>
          </a:p>
        </p:txBody>
      </p:sp>
      <p:sp>
        <p:nvSpPr>
          <p:cNvPr id="16" name="Rounded Rectangle 15"/>
          <p:cNvSpPr/>
          <p:nvPr/>
        </p:nvSpPr>
        <p:spPr>
          <a:xfrm>
            <a:off x="731520" y="5394960"/>
            <a:ext cx="10515600" cy="77724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5471160"/>
            <a:ext cx="2286000" cy="640080"/>
          </a:xfrm>
          <a:prstGeom prst="rect">
            <a:avLst/>
          </a:prstGeom>
          <a:noFill/>
        </p:spPr>
        <p:txBody>
          <a:bodyPr wrap="square">
            <a:spAutoFit/>
          </a:bodyPr>
          <a:lstStyle/>
          <a:p>
            <a:pPr algn="l">
              <a:defRPr sz="2200" b="1">
                <a:solidFill>
                  <a:srgbClr val="FBBF24"/>
                </a:solidFill>
                <a:latin typeface="Arial"/>
              </a:defRPr>
            </a:pPr>
            <a:r>
              <a:t>Nominatim</a:t>
            </a:r>
          </a:p>
        </p:txBody>
      </p:sp>
      <p:sp>
        <p:nvSpPr>
          <p:cNvPr id="18" name="TextBox 17"/>
          <p:cNvSpPr txBox="1"/>
          <p:nvPr/>
        </p:nvSpPr>
        <p:spPr>
          <a:xfrm>
            <a:off x="3474720" y="5496560"/>
            <a:ext cx="7315200" cy="640080"/>
          </a:xfrm>
          <a:prstGeom prst="rect">
            <a:avLst/>
          </a:prstGeom>
          <a:noFill/>
        </p:spPr>
        <p:txBody>
          <a:bodyPr wrap="square">
            <a:spAutoFit/>
          </a:bodyPr>
          <a:lstStyle/>
          <a:p>
            <a:pPr algn="l">
              <a:defRPr sz="1800" b="0">
                <a:solidFill>
                  <a:srgbClr val="E9D5FF"/>
                </a:solidFill>
                <a:latin typeface="Arial"/>
              </a:defRPr>
            </a:pPr>
            <a:r>
              <a:t>Reverse geocoding — coordinates to city names</a:t>
            </a:r>
          </a:p>
        </p:txBody>
      </p:sp>
      <p:sp>
        <p:nvSpPr>
          <p:cNvPr id="19" name="Rounded Rectangle 18"/>
          <p:cNvSpPr/>
          <p:nvPr/>
        </p:nvSpPr>
        <p:spPr>
          <a:xfrm>
            <a:off x="3200400" y="6035040"/>
            <a:ext cx="5790895" cy="548640"/>
          </a:xfrm>
          <a:prstGeom prst="roundRect">
            <a:avLst/>
          </a:prstGeom>
          <a:solidFill>
            <a:srgbClr val="7C3AED">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00400" y="6035040"/>
            <a:ext cx="5790895" cy="548640"/>
          </a:xfrm>
          <a:prstGeom prst="rect">
            <a:avLst/>
          </a:prstGeom>
          <a:noFill/>
        </p:spPr>
        <p:txBody>
          <a:bodyPr wrap="square">
            <a:spAutoFit/>
          </a:bodyPr>
          <a:lstStyle/>
          <a:p>
            <a:pPr algn="ctr">
              <a:defRPr sz="1600" b="1">
                <a:solidFill>
                  <a:srgbClr val="FFFFFF"/>
                </a:solidFill>
                <a:latin typeface="Arial"/>
              </a:defRPr>
            </a:pPr>
            <a:r>
              <a:t>Zero frameworks. Zero dependencies. Runs anywhere.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1B4B"/>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7315200" cy="731520"/>
          </a:xfrm>
          <a:prstGeom prst="rect">
            <a:avLst/>
          </a:prstGeom>
          <a:noFill/>
        </p:spPr>
        <p:txBody>
          <a:bodyPr wrap="square">
            <a:spAutoFit/>
          </a:bodyPr>
          <a:lstStyle/>
          <a:p>
            <a:pPr algn="l">
              <a:defRPr sz="3600" b="1">
                <a:solidFill>
                  <a:srgbClr val="FFFFFF"/>
                </a:solidFill>
                <a:latin typeface="Arial"/>
              </a:defRPr>
            </a:pPr>
            <a:r>
              <a:t>How Weather Drives Quests</a:t>
            </a:r>
          </a:p>
        </p:txBody>
      </p:sp>
      <p:sp>
        <p:nvSpPr>
          <p:cNvPr id="3" name="Rectangle 2"/>
          <p:cNvSpPr/>
          <p:nvPr/>
        </p:nvSpPr>
        <p:spPr>
          <a:xfrm>
            <a:off x="731520" y="1188720"/>
            <a:ext cx="1828800"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6858000" cy="731520"/>
          </a:xfrm>
          <a:prstGeom prst="roundRect">
            <a:avLst/>
          </a:prstGeom>
          <a:solidFill>
            <a:srgbClr val="4C1D95">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3120" y="1696720"/>
            <a:ext cx="548640" cy="640080"/>
          </a:xfrm>
          <a:prstGeom prst="rect">
            <a:avLst/>
          </a:prstGeom>
          <a:noFill/>
        </p:spPr>
        <p:txBody>
          <a:bodyPr wrap="square">
            <a:spAutoFit/>
          </a:bodyPr>
          <a:lstStyle/>
          <a:p>
            <a:pPr algn="l">
              <a:defRPr sz="2400" b="0">
                <a:solidFill>
                  <a:srgbClr val="FFFFFF"/>
                </a:solidFill>
                <a:latin typeface="Arial"/>
              </a:defRPr>
            </a:pPr>
            <a:r>
              <a:t>📍</a:t>
            </a:r>
          </a:p>
        </p:txBody>
      </p:sp>
      <p:sp>
        <p:nvSpPr>
          <p:cNvPr id="6" name="TextBox 5"/>
          <p:cNvSpPr txBox="1"/>
          <p:nvPr/>
        </p:nvSpPr>
        <p:spPr>
          <a:xfrm>
            <a:off x="1371600" y="1696720"/>
            <a:ext cx="1828800" cy="640080"/>
          </a:xfrm>
          <a:prstGeom prst="rect">
            <a:avLst/>
          </a:prstGeom>
          <a:noFill/>
        </p:spPr>
        <p:txBody>
          <a:bodyPr wrap="square">
            <a:spAutoFit/>
          </a:bodyPr>
          <a:lstStyle/>
          <a:p>
            <a:pPr algn="l">
              <a:defRPr sz="1800" b="1">
                <a:solidFill>
                  <a:srgbClr val="FBBF24"/>
                </a:solidFill>
                <a:latin typeface="Arial"/>
              </a:defRPr>
            </a:pPr>
            <a:r>
              <a:t>Geolocation</a:t>
            </a:r>
          </a:p>
        </p:txBody>
      </p:sp>
      <p:sp>
        <p:nvSpPr>
          <p:cNvPr id="7" name="TextBox 6"/>
          <p:cNvSpPr txBox="1"/>
          <p:nvPr/>
        </p:nvSpPr>
        <p:spPr>
          <a:xfrm>
            <a:off x="3291840" y="1722120"/>
            <a:ext cx="4114800" cy="640080"/>
          </a:xfrm>
          <a:prstGeom prst="rect">
            <a:avLst/>
          </a:prstGeom>
          <a:noFill/>
        </p:spPr>
        <p:txBody>
          <a:bodyPr wrap="square">
            <a:spAutoFit/>
          </a:bodyPr>
          <a:lstStyle/>
          <a:p>
            <a:pPr algn="l">
              <a:defRPr sz="1600" b="0">
                <a:solidFill>
                  <a:srgbClr val="E9D5FF"/>
                </a:solidFill>
                <a:latin typeface="Arial"/>
              </a:defRPr>
            </a:pPr>
            <a:r>
              <a:t>Browser asks permission, gets lat/long coordinates</a:t>
            </a:r>
          </a:p>
        </p:txBody>
      </p:sp>
      <p:sp>
        <p:nvSpPr>
          <p:cNvPr id="8" name="TextBox 7"/>
          <p:cNvSpPr txBox="1"/>
          <p:nvPr/>
        </p:nvSpPr>
        <p:spPr>
          <a:xfrm>
            <a:off x="914400" y="2331720"/>
            <a:ext cx="457200" cy="274320"/>
          </a:xfrm>
          <a:prstGeom prst="rect">
            <a:avLst/>
          </a:prstGeom>
          <a:noFill/>
        </p:spPr>
        <p:txBody>
          <a:bodyPr wrap="square">
            <a:spAutoFit/>
          </a:bodyPr>
          <a:lstStyle/>
          <a:p>
            <a:pPr algn="ctr">
              <a:defRPr sz="1400" b="0">
                <a:solidFill>
                  <a:srgbClr val="7C3AED"/>
                </a:solidFill>
                <a:latin typeface="Arial"/>
              </a:defRPr>
            </a:pPr>
            <a:r>
              <a:t>▼</a:t>
            </a:r>
          </a:p>
        </p:txBody>
      </p:sp>
      <p:sp>
        <p:nvSpPr>
          <p:cNvPr id="9" name="Rounded Rectangle 8"/>
          <p:cNvSpPr/>
          <p:nvPr/>
        </p:nvSpPr>
        <p:spPr>
          <a:xfrm>
            <a:off x="731520" y="2560320"/>
            <a:ext cx="6858000" cy="731520"/>
          </a:xfrm>
          <a:prstGeom prst="roundRect">
            <a:avLst/>
          </a:prstGeom>
          <a:solidFill>
            <a:srgbClr val="4C1D95">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3120" y="2611120"/>
            <a:ext cx="548640" cy="640080"/>
          </a:xfrm>
          <a:prstGeom prst="rect">
            <a:avLst/>
          </a:prstGeom>
          <a:noFill/>
        </p:spPr>
        <p:txBody>
          <a:bodyPr wrap="square">
            <a:spAutoFit/>
          </a:bodyPr>
          <a:lstStyle/>
          <a:p>
            <a:pPr algn="l">
              <a:defRPr sz="2400" b="0">
                <a:solidFill>
                  <a:srgbClr val="FFFFFF"/>
                </a:solidFill>
                <a:latin typeface="Arial"/>
              </a:defRPr>
            </a:pPr>
            <a:r>
              <a:t>🌡️</a:t>
            </a:r>
          </a:p>
        </p:txBody>
      </p:sp>
      <p:sp>
        <p:nvSpPr>
          <p:cNvPr id="11" name="TextBox 10"/>
          <p:cNvSpPr txBox="1"/>
          <p:nvPr/>
        </p:nvSpPr>
        <p:spPr>
          <a:xfrm>
            <a:off x="1371600" y="2611120"/>
            <a:ext cx="1828800" cy="640080"/>
          </a:xfrm>
          <a:prstGeom prst="rect">
            <a:avLst/>
          </a:prstGeom>
          <a:noFill/>
        </p:spPr>
        <p:txBody>
          <a:bodyPr wrap="square">
            <a:spAutoFit/>
          </a:bodyPr>
          <a:lstStyle/>
          <a:p>
            <a:pPr algn="l">
              <a:defRPr sz="1800" b="1">
                <a:solidFill>
                  <a:srgbClr val="FBBF24"/>
                </a:solidFill>
                <a:latin typeface="Arial"/>
              </a:defRPr>
            </a:pPr>
            <a:r>
              <a:t>Weather API</a:t>
            </a:r>
          </a:p>
        </p:txBody>
      </p:sp>
      <p:sp>
        <p:nvSpPr>
          <p:cNvPr id="12" name="TextBox 11"/>
          <p:cNvSpPr txBox="1"/>
          <p:nvPr/>
        </p:nvSpPr>
        <p:spPr>
          <a:xfrm>
            <a:off x="3291840" y="2636520"/>
            <a:ext cx="4114800" cy="640080"/>
          </a:xfrm>
          <a:prstGeom prst="rect">
            <a:avLst/>
          </a:prstGeom>
          <a:noFill/>
        </p:spPr>
        <p:txBody>
          <a:bodyPr wrap="square">
            <a:spAutoFit/>
          </a:bodyPr>
          <a:lstStyle/>
          <a:p>
            <a:pPr algn="l">
              <a:defRPr sz="1600" b="0">
                <a:solidFill>
                  <a:srgbClr val="E9D5FF"/>
                </a:solidFill>
                <a:latin typeface="Arial"/>
              </a:defRPr>
            </a:pPr>
            <a:r>
              <a:t>Open-Meteo returns temperature + weather code</a:t>
            </a:r>
          </a:p>
        </p:txBody>
      </p:sp>
      <p:sp>
        <p:nvSpPr>
          <p:cNvPr id="13" name="TextBox 12"/>
          <p:cNvSpPr txBox="1"/>
          <p:nvPr/>
        </p:nvSpPr>
        <p:spPr>
          <a:xfrm>
            <a:off x="914400" y="3246120"/>
            <a:ext cx="457200" cy="274320"/>
          </a:xfrm>
          <a:prstGeom prst="rect">
            <a:avLst/>
          </a:prstGeom>
          <a:noFill/>
        </p:spPr>
        <p:txBody>
          <a:bodyPr wrap="square">
            <a:spAutoFit/>
          </a:bodyPr>
          <a:lstStyle/>
          <a:p>
            <a:pPr algn="ctr">
              <a:defRPr sz="1400" b="0">
                <a:solidFill>
                  <a:srgbClr val="7C3AED"/>
                </a:solidFill>
                <a:latin typeface="Arial"/>
              </a:defRPr>
            </a:pPr>
            <a:r>
              <a:t>▼</a:t>
            </a:r>
          </a:p>
        </p:txBody>
      </p:sp>
      <p:sp>
        <p:nvSpPr>
          <p:cNvPr id="14" name="Rounded Rectangle 13"/>
          <p:cNvSpPr/>
          <p:nvPr/>
        </p:nvSpPr>
        <p:spPr>
          <a:xfrm>
            <a:off x="731520" y="3474720"/>
            <a:ext cx="6858000" cy="731520"/>
          </a:xfrm>
          <a:prstGeom prst="roundRect">
            <a:avLst/>
          </a:prstGeom>
          <a:solidFill>
            <a:srgbClr val="4C1D95">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3120" y="3525520"/>
            <a:ext cx="548640" cy="640080"/>
          </a:xfrm>
          <a:prstGeom prst="rect">
            <a:avLst/>
          </a:prstGeom>
          <a:noFill/>
        </p:spPr>
        <p:txBody>
          <a:bodyPr wrap="square">
            <a:spAutoFit/>
          </a:bodyPr>
          <a:lstStyle/>
          <a:p>
            <a:pPr algn="l">
              <a:defRPr sz="2400" b="0">
                <a:solidFill>
                  <a:srgbClr val="FFFFFF"/>
                </a:solidFill>
                <a:latin typeface="Arial"/>
              </a:defRPr>
            </a:pPr>
            <a:r>
              <a:t>🏷️</a:t>
            </a:r>
          </a:p>
        </p:txBody>
      </p:sp>
      <p:sp>
        <p:nvSpPr>
          <p:cNvPr id="16" name="TextBox 15"/>
          <p:cNvSpPr txBox="1"/>
          <p:nvPr/>
        </p:nvSpPr>
        <p:spPr>
          <a:xfrm>
            <a:off x="1371600" y="3525520"/>
            <a:ext cx="1828800" cy="640080"/>
          </a:xfrm>
          <a:prstGeom prst="rect">
            <a:avLst/>
          </a:prstGeom>
          <a:noFill/>
        </p:spPr>
        <p:txBody>
          <a:bodyPr wrap="square">
            <a:spAutoFit/>
          </a:bodyPr>
          <a:lstStyle/>
          <a:p>
            <a:pPr algn="l">
              <a:defRPr sz="1800" b="1">
                <a:solidFill>
                  <a:srgbClr val="FBBF24"/>
                </a:solidFill>
                <a:latin typeface="Arial"/>
              </a:defRPr>
            </a:pPr>
            <a:r>
              <a:t>Categorize</a:t>
            </a:r>
          </a:p>
        </p:txBody>
      </p:sp>
      <p:sp>
        <p:nvSpPr>
          <p:cNvPr id="17" name="TextBox 16"/>
          <p:cNvSpPr txBox="1"/>
          <p:nvPr/>
        </p:nvSpPr>
        <p:spPr>
          <a:xfrm>
            <a:off x="3291840" y="3550920"/>
            <a:ext cx="4114800" cy="640080"/>
          </a:xfrm>
          <a:prstGeom prst="rect">
            <a:avLst/>
          </a:prstGeom>
          <a:noFill/>
        </p:spPr>
        <p:txBody>
          <a:bodyPr wrap="square">
            <a:spAutoFit/>
          </a:bodyPr>
          <a:lstStyle/>
          <a:p>
            <a:pPr algn="l">
              <a:defRPr sz="1600" b="0">
                <a:solidFill>
                  <a:srgbClr val="E9D5FF"/>
                </a:solidFill>
                <a:latin typeface="Arial"/>
              </a:defRPr>
            </a:pPr>
            <a:r>
              <a:t>Map codes to: sunny, cloudy, rainy, snowy, stormy, hot, cold</a:t>
            </a:r>
          </a:p>
        </p:txBody>
      </p:sp>
      <p:sp>
        <p:nvSpPr>
          <p:cNvPr id="18" name="TextBox 17"/>
          <p:cNvSpPr txBox="1"/>
          <p:nvPr/>
        </p:nvSpPr>
        <p:spPr>
          <a:xfrm>
            <a:off x="914400" y="4160520"/>
            <a:ext cx="457200" cy="274320"/>
          </a:xfrm>
          <a:prstGeom prst="rect">
            <a:avLst/>
          </a:prstGeom>
          <a:noFill/>
        </p:spPr>
        <p:txBody>
          <a:bodyPr wrap="square">
            <a:spAutoFit/>
          </a:bodyPr>
          <a:lstStyle/>
          <a:p>
            <a:pPr algn="ctr">
              <a:defRPr sz="1400" b="0">
                <a:solidFill>
                  <a:srgbClr val="7C3AED"/>
                </a:solidFill>
                <a:latin typeface="Arial"/>
              </a:defRPr>
            </a:pPr>
            <a:r>
              <a:t>▼</a:t>
            </a:r>
          </a:p>
        </p:txBody>
      </p:sp>
      <p:sp>
        <p:nvSpPr>
          <p:cNvPr id="19" name="Rounded Rectangle 18"/>
          <p:cNvSpPr/>
          <p:nvPr/>
        </p:nvSpPr>
        <p:spPr>
          <a:xfrm>
            <a:off x="731520" y="4389120"/>
            <a:ext cx="6858000" cy="731520"/>
          </a:xfrm>
          <a:prstGeom prst="roundRect">
            <a:avLst/>
          </a:prstGeom>
          <a:solidFill>
            <a:srgbClr val="4C1D95">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3120" y="4439920"/>
            <a:ext cx="548640" cy="640080"/>
          </a:xfrm>
          <a:prstGeom prst="rect">
            <a:avLst/>
          </a:prstGeom>
          <a:noFill/>
        </p:spPr>
        <p:txBody>
          <a:bodyPr wrap="square">
            <a:spAutoFit/>
          </a:bodyPr>
          <a:lstStyle/>
          <a:p>
            <a:pPr algn="l">
              <a:defRPr sz="2400" b="0">
                <a:solidFill>
                  <a:srgbClr val="FFFFFF"/>
                </a:solidFill>
                <a:latin typeface="Arial"/>
              </a:defRPr>
            </a:pPr>
            <a:r>
              <a:t>🎰</a:t>
            </a:r>
          </a:p>
        </p:txBody>
      </p:sp>
      <p:sp>
        <p:nvSpPr>
          <p:cNvPr id="21" name="TextBox 20"/>
          <p:cNvSpPr txBox="1"/>
          <p:nvPr/>
        </p:nvSpPr>
        <p:spPr>
          <a:xfrm>
            <a:off x="1371600" y="4439920"/>
            <a:ext cx="1828800" cy="640080"/>
          </a:xfrm>
          <a:prstGeom prst="rect">
            <a:avLst/>
          </a:prstGeom>
          <a:noFill/>
        </p:spPr>
        <p:txBody>
          <a:bodyPr wrap="square">
            <a:spAutoFit/>
          </a:bodyPr>
          <a:lstStyle/>
          <a:p>
            <a:pPr algn="l">
              <a:defRPr sz="1800" b="1">
                <a:solidFill>
                  <a:srgbClr val="FBBF24"/>
                </a:solidFill>
                <a:latin typeface="Arial"/>
              </a:defRPr>
            </a:pPr>
            <a:r>
              <a:t>Quest Pool</a:t>
            </a:r>
          </a:p>
        </p:txBody>
      </p:sp>
      <p:sp>
        <p:nvSpPr>
          <p:cNvPr id="22" name="TextBox 21"/>
          <p:cNvSpPr txBox="1"/>
          <p:nvPr/>
        </p:nvSpPr>
        <p:spPr>
          <a:xfrm>
            <a:off x="3291840" y="4465320"/>
            <a:ext cx="4114800" cy="640080"/>
          </a:xfrm>
          <a:prstGeom prst="rect">
            <a:avLst/>
          </a:prstGeom>
          <a:noFill/>
        </p:spPr>
        <p:txBody>
          <a:bodyPr wrap="square">
            <a:spAutoFit/>
          </a:bodyPr>
          <a:lstStyle/>
          <a:p>
            <a:pPr algn="l">
              <a:defRPr sz="1600" b="0">
                <a:solidFill>
                  <a:srgbClr val="E9D5FF"/>
                </a:solidFill>
                <a:latin typeface="Arial"/>
              </a:defRPr>
            </a:pPr>
            <a:r>
              <a:t>Select from outdoor/indoor quests for that category</a:t>
            </a:r>
          </a:p>
        </p:txBody>
      </p:sp>
      <p:sp>
        <p:nvSpPr>
          <p:cNvPr id="23" name="TextBox 22"/>
          <p:cNvSpPr txBox="1"/>
          <p:nvPr/>
        </p:nvSpPr>
        <p:spPr>
          <a:xfrm>
            <a:off x="914400" y="5074920"/>
            <a:ext cx="457200" cy="274320"/>
          </a:xfrm>
          <a:prstGeom prst="rect">
            <a:avLst/>
          </a:prstGeom>
          <a:noFill/>
        </p:spPr>
        <p:txBody>
          <a:bodyPr wrap="square">
            <a:spAutoFit/>
          </a:bodyPr>
          <a:lstStyle/>
          <a:p>
            <a:pPr algn="ctr">
              <a:defRPr sz="1400" b="0">
                <a:solidFill>
                  <a:srgbClr val="7C3AED"/>
                </a:solidFill>
                <a:latin typeface="Arial"/>
              </a:defRPr>
            </a:pPr>
            <a:r>
              <a:t>▼</a:t>
            </a:r>
          </a:p>
        </p:txBody>
      </p:sp>
      <p:sp>
        <p:nvSpPr>
          <p:cNvPr id="24" name="Rounded Rectangle 23"/>
          <p:cNvSpPr/>
          <p:nvPr/>
        </p:nvSpPr>
        <p:spPr>
          <a:xfrm>
            <a:off x="731520" y="5303520"/>
            <a:ext cx="6858000" cy="731520"/>
          </a:xfrm>
          <a:prstGeom prst="roundRect">
            <a:avLst/>
          </a:prstGeom>
          <a:solidFill>
            <a:srgbClr val="4C1D95">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120" y="5354320"/>
            <a:ext cx="548640" cy="640080"/>
          </a:xfrm>
          <a:prstGeom prst="rect">
            <a:avLst/>
          </a:prstGeom>
          <a:noFill/>
        </p:spPr>
        <p:txBody>
          <a:bodyPr wrap="square">
            <a:spAutoFit/>
          </a:bodyPr>
          <a:lstStyle/>
          <a:p>
            <a:pPr algn="l">
              <a:defRPr sz="2400" b="0">
                <a:solidFill>
                  <a:srgbClr val="FFFFFF"/>
                </a:solidFill>
                <a:latin typeface="Arial"/>
              </a:defRPr>
            </a:pPr>
            <a:r>
              <a:t>🎯</a:t>
            </a:r>
          </a:p>
        </p:txBody>
      </p:sp>
      <p:sp>
        <p:nvSpPr>
          <p:cNvPr id="26" name="TextBox 25"/>
          <p:cNvSpPr txBox="1"/>
          <p:nvPr/>
        </p:nvSpPr>
        <p:spPr>
          <a:xfrm>
            <a:off x="1371600" y="5354320"/>
            <a:ext cx="1828800" cy="640080"/>
          </a:xfrm>
          <a:prstGeom prst="rect">
            <a:avLst/>
          </a:prstGeom>
          <a:noFill/>
        </p:spPr>
        <p:txBody>
          <a:bodyPr wrap="square">
            <a:spAutoFit/>
          </a:bodyPr>
          <a:lstStyle/>
          <a:p>
            <a:pPr algn="l">
              <a:defRPr sz="1800" b="1">
                <a:solidFill>
                  <a:srgbClr val="FBBF24"/>
                </a:solidFill>
                <a:latin typeface="Arial"/>
              </a:defRPr>
            </a:pPr>
            <a:r>
              <a:t>Serve Quest</a:t>
            </a:r>
          </a:p>
        </p:txBody>
      </p:sp>
      <p:sp>
        <p:nvSpPr>
          <p:cNvPr id="27" name="TextBox 26"/>
          <p:cNvSpPr txBox="1"/>
          <p:nvPr/>
        </p:nvSpPr>
        <p:spPr>
          <a:xfrm>
            <a:off x="3291840" y="5379720"/>
            <a:ext cx="4114800" cy="640080"/>
          </a:xfrm>
          <a:prstGeom prst="rect">
            <a:avLst/>
          </a:prstGeom>
          <a:noFill/>
        </p:spPr>
        <p:txBody>
          <a:bodyPr wrap="square">
            <a:spAutoFit/>
          </a:bodyPr>
          <a:lstStyle/>
          <a:p>
            <a:pPr algn="l">
              <a:defRPr sz="1600" b="0">
                <a:solidFill>
                  <a:srgbClr val="E9D5FF"/>
                </a:solidFill>
                <a:latin typeface="Arial"/>
              </a:defRPr>
            </a:pPr>
            <a:r>
              <a:t>Random quest with title, description, XP, duration, tips</a:t>
            </a:r>
          </a:p>
        </p:txBody>
      </p:sp>
      <p:sp>
        <p:nvSpPr>
          <p:cNvPr id="28" name="Rounded Rectangle 27"/>
          <p:cNvSpPr/>
          <p:nvPr/>
        </p:nvSpPr>
        <p:spPr>
          <a:xfrm>
            <a:off x="8229600" y="1828800"/>
            <a:ext cx="3200400" cy="3200400"/>
          </a:xfrm>
          <a:prstGeom prst="roundRect">
            <a:avLst/>
          </a:prstGeom>
          <a:solidFill>
            <a:srgbClr val="4C1D95">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12480" y="2011680"/>
            <a:ext cx="2743200" cy="457200"/>
          </a:xfrm>
          <a:prstGeom prst="rect">
            <a:avLst/>
          </a:prstGeom>
          <a:noFill/>
        </p:spPr>
        <p:txBody>
          <a:bodyPr wrap="square">
            <a:spAutoFit/>
          </a:bodyPr>
          <a:lstStyle/>
          <a:p>
            <a:pPr algn="ctr">
              <a:defRPr sz="1600" b="1">
                <a:solidFill>
                  <a:srgbClr val="FBBF24"/>
                </a:solidFill>
                <a:latin typeface="Arial"/>
              </a:defRPr>
            </a:pPr>
            <a:r>
              <a:t>Example Quest</a:t>
            </a:r>
          </a:p>
        </p:txBody>
      </p:sp>
      <p:sp>
        <p:nvSpPr>
          <p:cNvPr id="30" name="TextBox 29"/>
          <p:cNvSpPr txBox="1"/>
          <p:nvPr/>
        </p:nvSpPr>
        <p:spPr>
          <a:xfrm>
            <a:off x="8412480" y="2468880"/>
            <a:ext cx="2743200" cy="457200"/>
          </a:xfrm>
          <a:prstGeom prst="rect">
            <a:avLst/>
          </a:prstGeom>
          <a:noFill/>
        </p:spPr>
        <p:txBody>
          <a:bodyPr wrap="square">
            <a:spAutoFit/>
          </a:bodyPr>
          <a:lstStyle/>
          <a:p>
            <a:pPr algn="ctr">
              <a:defRPr sz="2200" b="1">
                <a:solidFill>
                  <a:srgbClr val="FFFFFF"/>
                </a:solidFill>
                <a:latin typeface="Arial"/>
              </a:defRPr>
            </a:pPr>
            <a:r>
              <a:t>🌧️  Rainy Day</a:t>
            </a:r>
          </a:p>
        </p:txBody>
      </p:sp>
      <p:sp>
        <p:nvSpPr>
          <p:cNvPr id="31" name="TextBox 30"/>
          <p:cNvSpPr txBox="1"/>
          <p:nvPr/>
        </p:nvSpPr>
        <p:spPr>
          <a:xfrm>
            <a:off x="8503920" y="3017520"/>
            <a:ext cx="2560320" cy="1371600"/>
          </a:xfrm>
          <a:prstGeom prst="rect">
            <a:avLst/>
          </a:prstGeom>
          <a:noFill/>
        </p:spPr>
        <p:txBody>
          <a:bodyPr wrap="square">
            <a:spAutoFit/>
          </a:bodyPr>
          <a:lstStyle/>
          <a:p>
            <a:pPr algn="ctr">
              <a:defRPr sz="1300" b="0">
                <a:solidFill>
                  <a:srgbClr val="E9D5FF"/>
                </a:solidFill>
                <a:latin typeface="Arial"/>
              </a:defRPr>
            </a:pPr>
            <a:r>
              <a:t>"Rainy Day Café"</a:t>
            </a:r>
            <a:br/>
            <a:br/>
            <a:r>
              <a:t>Make yourself a fancy hot drink — cinnamon, honey, whipped cream? Go wild. Drink it slowly by a window watching the rain.</a:t>
            </a:r>
          </a:p>
        </p:txBody>
      </p:sp>
      <p:sp>
        <p:nvSpPr>
          <p:cNvPr id="32" name="TextBox 31"/>
          <p:cNvSpPr txBox="1"/>
          <p:nvPr/>
        </p:nvSpPr>
        <p:spPr>
          <a:xfrm>
            <a:off x="8412480" y="4572000"/>
            <a:ext cx="2743200" cy="365760"/>
          </a:xfrm>
          <a:prstGeom prst="rect">
            <a:avLst/>
          </a:prstGeom>
          <a:noFill/>
        </p:spPr>
        <p:txBody>
          <a:bodyPr wrap="square">
            <a:spAutoFit/>
          </a:bodyPr>
          <a:lstStyle/>
          <a:p>
            <a:pPr algn="ctr">
              <a:defRPr sz="1200" b="0">
                <a:solidFill>
                  <a:srgbClr val="C4B5FD"/>
                </a:solidFill>
                <a:latin typeface="Arial"/>
              </a:defRPr>
            </a:pPr>
            <a:r>
              <a:t>+25 XP  ·  10 min  ·  Self-Care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1B4B"/>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7315200" cy="731520"/>
          </a:xfrm>
          <a:prstGeom prst="rect">
            <a:avLst/>
          </a:prstGeom>
          <a:noFill/>
        </p:spPr>
        <p:txBody>
          <a:bodyPr wrap="square">
            <a:spAutoFit/>
          </a:bodyPr>
          <a:lstStyle/>
          <a:p>
            <a:pPr algn="l">
              <a:defRPr sz="3600" b="1">
                <a:solidFill>
                  <a:srgbClr val="FFFFFF"/>
                </a:solidFill>
                <a:latin typeface="Arial"/>
              </a:defRPr>
            </a:pPr>
            <a:r>
              <a:t>The Purple Panda Mascot</a:t>
            </a:r>
          </a:p>
        </p:txBody>
      </p:sp>
      <p:sp>
        <p:nvSpPr>
          <p:cNvPr id="3" name="Rectangle 2"/>
          <p:cNvSpPr/>
          <p:nvPr/>
        </p:nvSpPr>
        <p:spPr>
          <a:xfrm>
            <a:off x="731520" y="1188720"/>
            <a:ext cx="1828800"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5943600" cy="4572000"/>
          </a:xfrm>
          <a:prstGeom prst="rect">
            <a:avLst/>
          </a:prstGeom>
          <a:noFill/>
        </p:spPr>
        <p:txBody>
          <a:bodyPr wrap="square">
            <a:spAutoFit/>
          </a:bodyPr>
          <a:lstStyle/>
          <a:p>
            <a:pPr>
              <a:spcAft>
                <a:spcPts val="800"/>
              </a:spcAft>
              <a:defRPr sz="1800">
                <a:solidFill>
                  <a:srgbClr val="FFFFFF"/>
                </a:solidFill>
                <a:latin typeface="Arial"/>
              </a:defRPr>
            </a:pPr>
            <a:r>
              <a:t>Built entirely with inline SVG — no image files needed</a:t>
            </a:r>
          </a:p>
          <a:p>
            <a:pPr>
              <a:spcAft>
                <a:spcPts val="800"/>
              </a:spcAft>
              <a:defRPr sz="1800">
                <a:solidFill>
                  <a:srgbClr val="FFFFFF"/>
                </a:solidFill>
                <a:latin typeface="Arial"/>
              </a:defRPr>
            </a:pPr>
            <a:r>
              <a:t>Layered shapes: circles (ears, eyes), ellipses (head, body, patches)</a:t>
            </a:r>
          </a:p>
          <a:p>
            <a:pPr>
              <a:spcAft>
                <a:spcPts val="800"/>
              </a:spcAft>
              <a:defRPr sz="1800">
                <a:solidFill>
                  <a:srgbClr val="FFFFFF"/>
                </a:solidFill>
                <a:latin typeface="Arial"/>
              </a:defRPr>
            </a:pPr>
            <a:r>
              <a:t>Quadratic bezier paths for the smile curve</a:t>
            </a:r>
          </a:p>
          <a:p>
            <a:pPr>
              <a:spcAft>
                <a:spcPts val="800"/>
              </a:spcAft>
              <a:defRPr sz="1800">
                <a:solidFill>
                  <a:srgbClr val="FFFFFF"/>
                </a:solidFill>
                <a:latin typeface="Arial"/>
              </a:defRPr>
            </a:pPr>
            <a:r>
              <a:t>Semi-transparent ellipses for blush marks</a:t>
            </a:r>
          </a:p>
          <a:p>
            <a:pPr>
              <a:spcAft>
                <a:spcPts val="800"/>
              </a:spcAft>
              <a:defRPr sz="1800">
                <a:solidFill>
                  <a:srgbClr val="FFFFFF"/>
                </a:solidFill>
                <a:latin typeface="Arial"/>
              </a:defRPr>
            </a:pPr>
            <a:r>
              <a:t>CSS @keyframes animate the waving arm &amp; wandering pupils</a:t>
            </a:r>
          </a:p>
          <a:p>
            <a:pPr>
              <a:spcAft>
                <a:spcPts val="800"/>
              </a:spcAft>
              <a:defRPr sz="1800">
                <a:solidFill>
                  <a:srgbClr val="FFFFFF"/>
                </a:solidFill>
                <a:latin typeface="Arial"/>
              </a:defRPr>
            </a:pPr>
            <a:r>
              <a:t>Dynamic weather accessories added via JavaScript</a:t>
            </a:r>
          </a:p>
          <a:p>
            <a:pPr>
              <a:spcAft>
                <a:spcPts val="800"/>
              </a:spcAft>
              <a:defRPr sz="1800">
                <a:solidFill>
                  <a:srgbClr val="FFFFFF"/>
                </a:solidFill>
                <a:latin typeface="Arial"/>
              </a:defRPr>
            </a:pPr>
            <a:r>
              <a:t>Click the panda for weather-themed encouragement!</a:t>
            </a:r>
          </a:p>
        </p:txBody>
      </p:sp>
      <p:sp>
        <p:nvSpPr>
          <p:cNvPr id="5" name="Rounded Rectangle 4"/>
          <p:cNvSpPr/>
          <p:nvPr/>
        </p:nvSpPr>
        <p:spPr>
          <a:xfrm>
            <a:off x="7772400" y="1645920"/>
            <a:ext cx="3657600" cy="68580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79" y="1696720"/>
            <a:ext cx="457200" cy="548640"/>
          </a:xfrm>
          <a:prstGeom prst="rect">
            <a:avLst/>
          </a:prstGeom>
          <a:noFill/>
        </p:spPr>
        <p:txBody>
          <a:bodyPr wrap="square">
            <a:spAutoFit/>
          </a:bodyPr>
          <a:lstStyle/>
          <a:p>
            <a:pPr algn="l">
              <a:defRPr sz="2000" b="0">
                <a:solidFill>
                  <a:srgbClr val="7C3AED"/>
                </a:solidFill>
                <a:latin typeface="Arial"/>
              </a:defRPr>
            </a:pPr>
            <a:r>
              <a:t>●</a:t>
            </a:r>
          </a:p>
        </p:txBody>
      </p:sp>
      <p:sp>
        <p:nvSpPr>
          <p:cNvPr id="7" name="TextBox 6"/>
          <p:cNvSpPr txBox="1"/>
          <p:nvPr/>
        </p:nvSpPr>
        <p:spPr>
          <a:xfrm>
            <a:off x="8412480" y="1671320"/>
            <a:ext cx="1097280" cy="365760"/>
          </a:xfrm>
          <a:prstGeom prst="rect">
            <a:avLst/>
          </a:prstGeom>
          <a:noFill/>
        </p:spPr>
        <p:txBody>
          <a:bodyPr wrap="square">
            <a:spAutoFit/>
          </a:bodyPr>
          <a:lstStyle/>
          <a:p>
            <a:pPr algn="l">
              <a:defRPr sz="1400" b="1">
                <a:solidFill>
                  <a:srgbClr val="FBBF24"/>
                </a:solidFill>
                <a:latin typeface="Arial"/>
              </a:defRPr>
            </a:pPr>
            <a:r>
              <a:t>&lt;circle&gt;</a:t>
            </a:r>
          </a:p>
        </p:txBody>
      </p:sp>
      <p:sp>
        <p:nvSpPr>
          <p:cNvPr id="8" name="TextBox 7"/>
          <p:cNvSpPr txBox="1"/>
          <p:nvPr/>
        </p:nvSpPr>
        <p:spPr>
          <a:xfrm>
            <a:off x="8412480" y="1925320"/>
            <a:ext cx="2743200" cy="365760"/>
          </a:xfrm>
          <a:prstGeom prst="rect">
            <a:avLst/>
          </a:prstGeom>
          <a:noFill/>
        </p:spPr>
        <p:txBody>
          <a:bodyPr wrap="square">
            <a:spAutoFit/>
          </a:bodyPr>
          <a:lstStyle/>
          <a:p>
            <a:pPr algn="l">
              <a:defRPr sz="1200" b="0">
                <a:solidFill>
                  <a:srgbClr val="C4B5FD"/>
                </a:solidFill>
                <a:latin typeface="Arial"/>
              </a:defRPr>
            </a:pPr>
            <a:r>
              <a:t>Ears, eyes, pupils, shine</a:t>
            </a:r>
          </a:p>
        </p:txBody>
      </p:sp>
      <p:sp>
        <p:nvSpPr>
          <p:cNvPr id="9" name="Rounded Rectangle 8"/>
          <p:cNvSpPr/>
          <p:nvPr/>
        </p:nvSpPr>
        <p:spPr>
          <a:xfrm>
            <a:off x="7772400" y="2514600"/>
            <a:ext cx="3657600" cy="68580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79" y="2565400"/>
            <a:ext cx="457200" cy="548640"/>
          </a:xfrm>
          <a:prstGeom prst="rect">
            <a:avLst/>
          </a:prstGeom>
          <a:noFill/>
        </p:spPr>
        <p:txBody>
          <a:bodyPr wrap="square">
            <a:spAutoFit/>
          </a:bodyPr>
          <a:lstStyle/>
          <a:p>
            <a:pPr algn="l">
              <a:defRPr sz="2000" b="0">
                <a:solidFill>
                  <a:srgbClr val="7C3AED"/>
                </a:solidFill>
                <a:latin typeface="Arial"/>
              </a:defRPr>
            </a:pPr>
            <a:r>
              <a:t>⬭</a:t>
            </a:r>
          </a:p>
        </p:txBody>
      </p:sp>
      <p:sp>
        <p:nvSpPr>
          <p:cNvPr id="11" name="TextBox 10"/>
          <p:cNvSpPr txBox="1"/>
          <p:nvPr/>
        </p:nvSpPr>
        <p:spPr>
          <a:xfrm>
            <a:off x="8412480" y="2540000"/>
            <a:ext cx="1097280" cy="365760"/>
          </a:xfrm>
          <a:prstGeom prst="rect">
            <a:avLst/>
          </a:prstGeom>
          <a:noFill/>
        </p:spPr>
        <p:txBody>
          <a:bodyPr wrap="square">
            <a:spAutoFit/>
          </a:bodyPr>
          <a:lstStyle/>
          <a:p>
            <a:pPr algn="l">
              <a:defRPr sz="1400" b="1">
                <a:solidFill>
                  <a:srgbClr val="FBBF24"/>
                </a:solidFill>
                <a:latin typeface="Arial"/>
              </a:defRPr>
            </a:pPr>
            <a:r>
              <a:t>&lt;ellipse&gt;</a:t>
            </a:r>
          </a:p>
        </p:txBody>
      </p:sp>
      <p:sp>
        <p:nvSpPr>
          <p:cNvPr id="12" name="TextBox 11"/>
          <p:cNvSpPr txBox="1"/>
          <p:nvPr/>
        </p:nvSpPr>
        <p:spPr>
          <a:xfrm>
            <a:off x="8412480" y="2794000"/>
            <a:ext cx="2743200" cy="365760"/>
          </a:xfrm>
          <a:prstGeom prst="rect">
            <a:avLst/>
          </a:prstGeom>
          <a:noFill/>
        </p:spPr>
        <p:txBody>
          <a:bodyPr wrap="square">
            <a:spAutoFit/>
          </a:bodyPr>
          <a:lstStyle/>
          <a:p>
            <a:pPr algn="l">
              <a:defRPr sz="1200" b="0">
                <a:solidFill>
                  <a:srgbClr val="C4B5FD"/>
                </a:solidFill>
                <a:latin typeface="Arial"/>
              </a:defRPr>
            </a:pPr>
            <a:r>
              <a:t>Head, body, patches, blush, nose</a:t>
            </a:r>
          </a:p>
        </p:txBody>
      </p:sp>
      <p:sp>
        <p:nvSpPr>
          <p:cNvPr id="13" name="Rounded Rectangle 12"/>
          <p:cNvSpPr/>
          <p:nvPr/>
        </p:nvSpPr>
        <p:spPr>
          <a:xfrm>
            <a:off x="7772400" y="3383280"/>
            <a:ext cx="3657600" cy="68580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79" y="3434080"/>
            <a:ext cx="457200" cy="548640"/>
          </a:xfrm>
          <a:prstGeom prst="rect">
            <a:avLst/>
          </a:prstGeom>
          <a:noFill/>
        </p:spPr>
        <p:txBody>
          <a:bodyPr wrap="square">
            <a:spAutoFit/>
          </a:bodyPr>
          <a:lstStyle/>
          <a:p>
            <a:pPr algn="l">
              <a:defRPr sz="2000" b="0">
                <a:solidFill>
                  <a:srgbClr val="7C3AED"/>
                </a:solidFill>
                <a:latin typeface="Arial"/>
              </a:defRPr>
            </a:pPr>
            <a:r>
              <a:t>⟡</a:t>
            </a:r>
          </a:p>
        </p:txBody>
      </p:sp>
      <p:sp>
        <p:nvSpPr>
          <p:cNvPr id="15" name="TextBox 14"/>
          <p:cNvSpPr txBox="1"/>
          <p:nvPr/>
        </p:nvSpPr>
        <p:spPr>
          <a:xfrm>
            <a:off x="8412480" y="3408680"/>
            <a:ext cx="1097280" cy="365760"/>
          </a:xfrm>
          <a:prstGeom prst="rect">
            <a:avLst/>
          </a:prstGeom>
          <a:noFill/>
        </p:spPr>
        <p:txBody>
          <a:bodyPr wrap="square">
            <a:spAutoFit/>
          </a:bodyPr>
          <a:lstStyle/>
          <a:p>
            <a:pPr algn="l">
              <a:defRPr sz="1400" b="1">
                <a:solidFill>
                  <a:srgbClr val="FBBF24"/>
                </a:solidFill>
                <a:latin typeface="Arial"/>
              </a:defRPr>
            </a:pPr>
            <a:r>
              <a:t>&lt;path&gt;</a:t>
            </a:r>
          </a:p>
        </p:txBody>
      </p:sp>
      <p:sp>
        <p:nvSpPr>
          <p:cNvPr id="16" name="TextBox 15"/>
          <p:cNvSpPr txBox="1"/>
          <p:nvPr/>
        </p:nvSpPr>
        <p:spPr>
          <a:xfrm>
            <a:off x="8412480" y="3662680"/>
            <a:ext cx="2743200" cy="365760"/>
          </a:xfrm>
          <a:prstGeom prst="rect">
            <a:avLst/>
          </a:prstGeom>
          <a:noFill/>
        </p:spPr>
        <p:txBody>
          <a:bodyPr wrap="square">
            <a:spAutoFit/>
          </a:bodyPr>
          <a:lstStyle/>
          <a:p>
            <a:pPr algn="l">
              <a:defRPr sz="1200" b="0">
                <a:solidFill>
                  <a:srgbClr val="C4B5FD"/>
                </a:solidFill>
                <a:latin typeface="Arial"/>
              </a:defRPr>
            </a:pPr>
            <a:r>
              <a:t>Mouth (bezier), accessories</a:t>
            </a:r>
          </a:p>
        </p:txBody>
      </p:sp>
      <p:sp>
        <p:nvSpPr>
          <p:cNvPr id="17" name="Rounded Rectangle 16"/>
          <p:cNvSpPr/>
          <p:nvPr/>
        </p:nvSpPr>
        <p:spPr>
          <a:xfrm>
            <a:off x="7772400" y="4251960"/>
            <a:ext cx="3657600" cy="68580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55279" y="4302760"/>
            <a:ext cx="457200" cy="548640"/>
          </a:xfrm>
          <a:prstGeom prst="rect">
            <a:avLst/>
          </a:prstGeom>
          <a:noFill/>
        </p:spPr>
        <p:txBody>
          <a:bodyPr wrap="square">
            <a:spAutoFit/>
          </a:bodyPr>
          <a:lstStyle/>
          <a:p>
            <a:pPr algn="l">
              <a:defRPr sz="2000" b="0">
                <a:solidFill>
                  <a:srgbClr val="7C3AED"/>
                </a:solidFill>
                <a:latin typeface="Arial"/>
              </a:defRPr>
            </a:pPr>
            <a:r>
              <a:t>■</a:t>
            </a:r>
          </a:p>
        </p:txBody>
      </p:sp>
      <p:sp>
        <p:nvSpPr>
          <p:cNvPr id="19" name="TextBox 18"/>
          <p:cNvSpPr txBox="1"/>
          <p:nvPr/>
        </p:nvSpPr>
        <p:spPr>
          <a:xfrm>
            <a:off x="8412480" y="4277360"/>
            <a:ext cx="1097280" cy="365760"/>
          </a:xfrm>
          <a:prstGeom prst="rect">
            <a:avLst/>
          </a:prstGeom>
          <a:noFill/>
        </p:spPr>
        <p:txBody>
          <a:bodyPr wrap="square">
            <a:spAutoFit/>
          </a:bodyPr>
          <a:lstStyle/>
          <a:p>
            <a:pPr algn="l">
              <a:defRPr sz="1400" b="1">
                <a:solidFill>
                  <a:srgbClr val="FBBF24"/>
                </a:solidFill>
                <a:latin typeface="Arial"/>
              </a:defRPr>
            </a:pPr>
            <a:r>
              <a:t>&lt;rect&gt;</a:t>
            </a:r>
          </a:p>
        </p:txBody>
      </p:sp>
      <p:sp>
        <p:nvSpPr>
          <p:cNvPr id="20" name="TextBox 19"/>
          <p:cNvSpPr txBox="1"/>
          <p:nvPr/>
        </p:nvSpPr>
        <p:spPr>
          <a:xfrm>
            <a:off x="8412480" y="4531360"/>
            <a:ext cx="2743200" cy="365760"/>
          </a:xfrm>
          <a:prstGeom prst="rect">
            <a:avLst/>
          </a:prstGeom>
          <a:noFill/>
        </p:spPr>
        <p:txBody>
          <a:bodyPr wrap="square">
            <a:spAutoFit/>
          </a:bodyPr>
          <a:lstStyle/>
          <a:p>
            <a:pPr algn="l">
              <a:defRPr sz="1200" b="0">
                <a:solidFill>
                  <a:srgbClr val="C4B5FD"/>
                </a:solidFill>
                <a:latin typeface="Arial"/>
              </a:defRPr>
            </a:pPr>
            <a:r>
              <a:t>Hat brim, beanie</a:t>
            </a:r>
          </a:p>
        </p:txBody>
      </p:sp>
      <p:sp>
        <p:nvSpPr>
          <p:cNvPr id="21" name="Rounded Rectangle 20"/>
          <p:cNvSpPr/>
          <p:nvPr/>
        </p:nvSpPr>
        <p:spPr>
          <a:xfrm>
            <a:off x="7772400" y="5120640"/>
            <a:ext cx="3657600" cy="68580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55279" y="5171440"/>
            <a:ext cx="457200" cy="548640"/>
          </a:xfrm>
          <a:prstGeom prst="rect">
            <a:avLst/>
          </a:prstGeom>
          <a:noFill/>
        </p:spPr>
        <p:txBody>
          <a:bodyPr wrap="square">
            <a:spAutoFit/>
          </a:bodyPr>
          <a:lstStyle/>
          <a:p>
            <a:pPr algn="l">
              <a:defRPr sz="2000" b="0">
                <a:solidFill>
                  <a:srgbClr val="7C3AED"/>
                </a:solidFill>
                <a:latin typeface="Arial"/>
              </a:defRPr>
            </a:pPr>
            <a:r>
              <a:t>→</a:t>
            </a:r>
          </a:p>
        </p:txBody>
      </p:sp>
      <p:sp>
        <p:nvSpPr>
          <p:cNvPr id="23" name="TextBox 22"/>
          <p:cNvSpPr txBox="1"/>
          <p:nvPr/>
        </p:nvSpPr>
        <p:spPr>
          <a:xfrm>
            <a:off x="8412480" y="5146040"/>
            <a:ext cx="1097280" cy="365760"/>
          </a:xfrm>
          <a:prstGeom prst="rect">
            <a:avLst/>
          </a:prstGeom>
          <a:noFill/>
        </p:spPr>
        <p:txBody>
          <a:bodyPr wrap="square">
            <a:spAutoFit/>
          </a:bodyPr>
          <a:lstStyle/>
          <a:p>
            <a:pPr algn="l">
              <a:defRPr sz="1400" b="1">
                <a:solidFill>
                  <a:srgbClr val="FBBF24"/>
                </a:solidFill>
                <a:latin typeface="Arial"/>
              </a:defRPr>
            </a:pPr>
            <a:r>
              <a:t>&lt;g + CSS&gt;</a:t>
            </a:r>
          </a:p>
        </p:txBody>
      </p:sp>
      <p:sp>
        <p:nvSpPr>
          <p:cNvPr id="24" name="TextBox 23"/>
          <p:cNvSpPr txBox="1"/>
          <p:nvPr/>
        </p:nvSpPr>
        <p:spPr>
          <a:xfrm>
            <a:off x="8412480" y="5400040"/>
            <a:ext cx="2743200" cy="365760"/>
          </a:xfrm>
          <a:prstGeom prst="rect">
            <a:avLst/>
          </a:prstGeom>
          <a:noFill/>
        </p:spPr>
        <p:txBody>
          <a:bodyPr wrap="square">
            <a:spAutoFit/>
          </a:bodyPr>
          <a:lstStyle/>
          <a:p>
            <a:pPr algn="l">
              <a:defRPr sz="1200" b="0">
                <a:solidFill>
                  <a:srgbClr val="C4B5FD"/>
                </a:solidFill>
                <a:latin typeface="Arial"/>
              </a:defRPr>
            </a:pPr>
            <a:r>
              <a:t>Waving arm (transform-origin)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1B4B"/>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9144000" cy="731520"/>
          </a:xfrm>
          <a:prstGeom prst="rect">
            <a:avLst/>
          </a:prstGeom>
          <a:noFill/>
        </p:spPr>
        <p:txBody>
          <a:bodyPr wrap="square">
            <a:spAutoFit/>
          </a:bodyPr>
          <a:lstStyle/>
          <a:p>
            <a:pPr algn="l">
              <a:defRPr sz="3600" b="1">
                <a:solidFill>
                  <a:srgbClr val="FFFFFF"/>
                </a:solidFill>
                <a:latin typeface="Arial"/>
              </a:defRPr>
            </a:pPr>
            <a:r>
              <a:t>Game Design for Wellbeing</a:t>
            </a:r>
          </a:p>
        </p:txBody>
      </p:sp>
      <p:sp>
        <p:nvSpPr>
          <p:cNvPr id="3" name="Rectangle 2"/>
          <p:cNvSpPr/>
          <p:nvPr/>
        </p:nvSpPr>
        <p:spPr>
          <a:xfrm>
            <a:off x="731520" y="1188720"/>
            <a:ext cx="1828800"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2560320" cy="3474720"/>
          </a:xfrm>
          <a:prstGeom prst="roundRect">
            <a:avLst/>
          </a:prstGeom>
          <a:solidFill>
            <a:srgbClr val="4C1D95">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828800"/>
            <a:ext cx="2560320" cy="548640"/>
          </a:xfrm>
          <a:prstGeom prst="rect">
            <a:avLst/>
          </a:prstGeom>
          <a:noFill/>
        </p:spPr>
        <p:txBody>
          <a:bodyPr wrap="square">
            <a:spAutoFit/>
          </a:bodyPr>
          <a:lstStyle/>
          <a:p>
            <a:pPr algn="ctr">
              <a:defRPr sz="3600" b="0">
                <a:solidFill>
                  <a:srgbClr val="FFFFFF"/>
                </a:solidFill>
                <a:latin typeface="Arial"/>
              </a:defRPr>
            </a:pPr>
            <a:r>
              <a:t>⭐</a:t>
            </a:r>
          </a:p>
        </p:txBody>
      </p:sp>
      <p:sp>
        <p:nvSpPr>
          <p:cNvPr id="6" name="TextBox 5"/>
          <p:cNvSpPr txBox="1"/>
          <p:nvPr/>
        </p:nvSpPr>
        <p:spPr>
          <a:xfrm>
            <a:off x="883920" y="2468880"/>
            <a:ext cx="2194560" cy="457200"/>
          </a:xfrm>
          <a:prstGeom prst="rect">
            <a:avLst/>
          </a:prstGeom>
          <a:noFill/>
        </p:spPr>
        <p:txBody>
          <a:bodyPr wrap="square">
            <a:spAutoFit/>
          </a:bodyPr>
          <a:lstStyle/>
          <a:p>
            <a:pPr algn="ctr">
              <a:defRPr sz="2000" b="1">
                <a:solidFill>
                  <a:srgbClr val="FBBF24"/>
                </a:solidFill>
                <a:latin typeface="Arial"/>
              </a:defRPr>
            </a:pPr>
            <a:r>
              <a:t>XP System</a:t>
            </a:r>
          </a:p>
        </p:txBody>
      </p:sp>
      <p:sp>
        <p:nvSpPr>
          <p:cNvPr id="7" name="TextBox 6"/>
          <p:cNvSpPr txBox="1"/>
          <p:nvPr/>
        </p:nvSpPr>
        <p:spPr>
          <a:xfrm>
            <a:off x="883920" y="3017520"/>
            <a:ext cx="2194560" cy="1828800"/>
          </a:xfrm>
          <a:prstGeom prst="rect">
            <a:avLst/>
          </a:prstGeom>
          <a:noFill/>
        </p:spPr>
        <p:txBody>
          <a:bodyPr wrap="square">
            <a:spAutoFit/>
          </a:bodyPr>
          <a:lstStyle/>
          <a:p>
            <a:pPr algn="ctr">
              <a:defRPr sz="1400" b="0">
                <a:solidFill>
                  <a:srgbClr val="E9D5FF"/>
                </a:solidFill>
                <a:latin typeface="Arial"/>
              </a:defRPr>
            </a:pPr>
            <a:r>
              <a:t>Accumulate points with</a:t>
            </a:r>
            <a:br/>
            <a:r>
              <a:t>each completed quest.</a:t>
            </a:r>
            <a:br/>
            <a:r>
              <a:t>Visible progress motivates</a:t>
            </a:r>
            <a:br/>
            <a:r>
              <a:t>continued engagement.</a:t>
            </a:r>
          </a:p>
        </p:txBody>
      </p:sp>
      <p:sp>
        <p:nvSpPr>
          <p:cNvPr id="8" name="Rounded Rectangle 7"/>
          <p:cNvSpPr/>
          <p:nvPr/>
        </p:nvSpPr>
        <p:spPr>
          <a:xfrm>
            <a:off x="3566160" y="1645920"/>
            <a:ext cx="2560320" cy="3474720"/>
          </a:xfrm>
          <a:prstGeom prst="roundRect">
            <a:avLst/>
          </a:prstGeom>
          <a:solidFill>
            <a:srgbClr val="4C1D95">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66160" y="1828800"/>
            <a:ext cx="2560320" cy="548640"/>
          </a:xfrm>
          <a:prstGeom prst="rect">
            <a:avLst/>
          </a:prstGeom>
          <a:noFill/>
        </p:spPr>
        <p:txBody>
          <a:bodyPr wrap="square">
            <a:spAutoFit/>
          </a:bodyPr>
          <a:lstStyle/>
          <a:p>
            <a:pPr algn="ctr">
              <a:defRPr sz="3600" b="0">
                <a:solidFill>
                  <a:srgbClr val="FFFFFF"/>
                </a:solidFill>
                <a:latin typeface="Arial"/>
              </a:defRPr>
            </a:pPr>
            <a:r>
              <a:t>🔥</a:t>
            </a:r>
          </a:p>
        </p:txBody>
      </p:sp>
      <p:sp>
        <p:nvSpPr>
          <p:cNvPr id="10" name="TextBox 9"/>
          <p:cNvSpPr txBox="1"/>
          <p:nvPr/>
        </p:nvSpPr>
        <p:spPr>
          <a:xfrm>
            <a:off x="3718560" y="2468880"/>
            <a:ext cx="2194560" cy="457200"/>
          </a:xfrm>
          <a:prstGeom prst="rect">
            <a:avLst/>
          </a:prstGeom>
          <a:noFill/>
        </p:spPr>
        <p:txBody>
          <a:bodyPr wrap="square">
            <a:spAutoFit/>
          </a:bodyPr>
          <a:lstStyle/>
          <a:p>
            <a:pPr algn="ctr">
              <a:defRPr sz="2000" b="1">
                <a:solidFill>
                  <a:srgbClr val="FBBF24"/>
                </a:solidFill>
                <a:latin typeface="Arial"/>
              </a:defRPr>
            </a:pPr>
            <a:r>
              <a:t>Day Streaks</a:t>
            </a:r>
          </a:p>
        </p:txBody>
      </p:sp>
      <p:sp>
        <p:nvSpPr>
          <p:cNvPr id="11" name="TextBox 10"/>
          <p:cNvSpPr txBox="1"/>
          <p:nvPr/>
        </p:nvSpPr>
        <p:spPr>
          <a:xfrm>
            <a:off x="3718560" y="3017520"/>
            <a:ext cx="2194560" cy="1828800"/>
          </a:xfrm>
          <a:prstGeom prst="rect">
            <a:avLst/>
          </a:prstGeom>
          <a:noFill/>
        </p:spPr>
        <p:txBody>
          <a:bodyPr wrap="square">
            <a:spAutoFit/>
          </a:bodyPr>
          <a:lstStyle/>
          <a:p>
            <a:pPr algn="ctr">
              <a:defRPr sz="1400" b="0">
                <a:solidFill>
                  <a:srgbClr val="E9D5FF"/>
                </a:solidFill>
                <a:latin typeface="Arial"/>
              </a:defRPr>
            </a:pPr>
            <a:r>
              <a:t>Track consecutive days</a:t>
            </a:r>
            <a:br/>
            <a:r>
              <a:t>of quest completion.</a:t>
            </a:r>
            <a:br/>
            <a:r>
              <a:t>Builds habits through</a:t>
            </a:r>
            <a:br/>
            <a:r>
              <a:t>consistency rewards.</a:t>
            </a:r>
          </a:p>
        </p:txBody>
      </p:sp>
      <p:sp>
        <p:nvSpPr>
          <p:cNvPr id="12" name="Rounded Rectangle 11"/>
          <p:cNvSpPr/>
          <p:nvPr/>
        </p:nvSpPr>
        <p:spPr>
          <a:xfrm>
            <a:off x="6400800" y="1645920"/>
            <a:ext cx="2560320" cy="3474720"/>
          </a:xfrm>
          <a:prstGeom prst="roundRect">
            <a:avLst/>
          </a:prstGeom>
          <a:solidFill>
            <a:srgbClr val="4C1D95">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828800"/>
            <a:ext cx="2560320" cy="548640"/>
          </a:xfrm>
          <a:prstGeom prst="rect">
            <a:avLst/>
          </a:prstGeom>
          <a:noFill/>
        </p:spPr>
        <p:txBody>
          <a:bodyPr wrap="square">
            <a:spAutoFit/>
          </a:bodyPr>
          <a:lstStyle/>
          <a:p>
            <a:pPr algn="ctr">
              <a:defRPr sz="3600" b="0">
                <a:solidFill>
                  <a:srgbClr val="FFFFFF"/>
                </a:solidFill>
                <a:latin typeface="Arial"/>
              </a:defRPr>
            </a:pPr>
            <a:r>
              <a:t>🎲</a:t>
            </a:r>
          </a:p>
        </p:txBody>
      </p:sp>
      <p:sp>
        <p:nvSpPr>
          <p:cNvPr id="14" name="TextBox 13"/>
          <p:cNvSpPr txBox="1"/>
          <p:nvPr/>
        </p:nvSpPr>
        <p:spPr>
          <a:xfrm>
            <a:off x="6553200" y="2468880"/>
            <a:ext cx="2194560" cy="457200"/>
          </a:xfrm>
          <a:prstGeom prst="rect">
            <a:avLst/>
          </a:prstGeom>
          <a:noFill/>
        </p:spPr>
        <p:txBody>
          <a:bodyPr wrap="square">
            <a:spAutoFit/>
          </a:bodyPr>
          <a:lstStyle/>
          <a:p>
            <a:pPr algn="ctr">
              <a:defRPr sz="2000" b="1">
                <a:solidFill>
                  <a:srgbClr val="FBBF24"/>
                </a:solidFill>
                <a:latin typeface="Arial"/>
              </a:defRPr>
            </a:pPr>
            <a:r>
              <a:t>50+ Quests</a:t>
            </a:r>
          </a:p>
        </p:txBody>
      </p:sp>
      <p:sp>
        <p:nvSpPr>
          <p:cNvPr id="15" name="TextBox 14"/>
          <p:cNvSpPr txBox="1"/>
          <p:nvPr/>
        </p:nvSpPr>
        <p:spPr>
          <a:xfrm>
            <a:off x="6553200" y="3017520"/>
            <a:ext cx="2194560" cy="1828800"/>
          </a:xfrm>
          <a:prstGeom prst="rect">
            <a:avLst/>
          </a:prstGeom>
          <a:noFill/>
        </p:spPr>
        <p:txBody>
          <a:bodyPr wrap="square">
            <a:spAutoFit/>
          </a:bodyPr>
          <a:lstStyle/>
          <a:p>
            <a:pPr algn="ctr">
              <a:defRPr sz="1400" b="0">
                <a:solidFill>
                  <a:srgbClr val="E9D5FF"/>
                </a:solidFill>
                <a:latin typeface="Arial"/>
              </a:defRPr>
            </a:pPr>
            <a:r>
              <a:t>7 weather categories,</a:t>
            </a:r>
            <a:br/>
            <a:r>
              <a:t>indoor &amp; outdoor options.</a:t>
            </a:r>
            <a:br/>
            <a:r>
              <a:t>Variety prevents boredom</a:t>
            </a:r>
            <a:br/>
            <a:r>
              <a:t>and repetition.</a:t>
            </a:r>
          </a:p>
        </p:txBody>
      </p:sp>
      <p:sp>
        <p:nvSpPr>
          <p:cNvPr id="16" name="Rounded Rectangle 15"/>
          <p:cNvSpPr/>
          <p:nvPr/>
        </p:nvSpPr>
        <p:spPr>
          <a:xfrm>
            <a:off x="9235440" y="1645920"/>
            <a:ext cx="2560320" cy="3474720"/>
          </a:xfrm>
          <a:prstGeom prst="roundRect">
            <a:avLst/>
          </a:prstGeom>
          <a:solidFill>
            <a:srgbClr val="4C1D95">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35440" y="1828800"/>
            <a:ext cx="2560320" cy="548640"/>
          </a:xfrm>
          <a:prstGeom prst="rect">
            <a:avLst/>
          </a:prstGeom>
          <a:noFill/>
        </p:spPr>
        <p:txBody>
          <a:bodyPr wrap="square">
            <a:spAutoFit/>
          </a:bodyPr>
          <a:lstStyle/>
          <a:p>
            <a:pPr algn="ctr">
              <a:defRPr sz="3600" b="0">
                <a:solidFill>
                  <a:srgbClr val="FFFFFF"/>
                </a:solidFill>
                <a:latin typeface="Arial"/>
              </a:defRPr>
            </a:pPr>
            <a:r>
              <a:t>🎉</a:t>
            </a:r>
          </a:p>
        </p:txBody>
      </p:sp>
      <p:sp>
        <p:nvSpPr>
          <p:cNvPr id="18" name="TextBox 17"/>
          <p:cNvSpPr txBox="1"/>
          <p:nvPr/>
        </p:nvSpPr>
        <p:spPr>
          <a:xfrm>
            <a:off x="9387840" y="2468880"/>
            <a:ext cx="2194560" cy="457200"/>
          </a:xfrm>
          <a:prstGeom prst="rect">
            <a:avLst/>
          </a:prstGeom>
          <a:noFill/>
        </p:spPr>
        <p:txBody>
          <a:bodyPr wrap="square">
            <a:spAutoFit/>
          </a:bodyPr>
          <a:lstStyle/>
          <a:p>
            <a:pPr algn="ctr">
              <a:defRPr sz="2000" b="1">
                <a:solidFill>
                  <a:srgbClr val="FBBF24"/>
                </a:solidFill>
                <a:latin typeface="Arial"/>
              </a:defRPr>
            </a:pPr>
            <a:r>
              <a:t>Celebrations</a:t>
            </a:r>
          </a:p>
        </p:txBody>
      </p:sp>
      <p:sp>
        <p:nvSpPr>
          <p:cNvPr id="19" name="TextBox 18"/>
          <p:cNvSpPr txBox="1"/>
          <p:nvPr/>
        </p:nvSpPr>
        <p:spPr>
          <a:xfrm>
            <a:off x="9387840" y="3017520"/>
            <a:ext cx="2194560" cy="1828800"/>
          </a:xfrm>
          <a:prstGeom prst="rect">
            <a:avLst/>
          </a:prstGeom>
          <a:noFill/>
        </p:spPr>
        <p:txBody>
          <a:bodyPr wrap="square">
            <a:spAutoFit/>
          </a:bodyPr>
          <a:lstStyle/>
          <a:p>
            <a:pPr algn="ctr">
              <a:defRPr sz="1400" b="0">
                <a:solidFill>
                  <a:srgbClr val="E9D5FF"/>
                </a:solidFill>
                <a:latin typeface="Arial"/>
              </a:defRPr>
            </a:pPr>
            <a:r>
              <a:t>Confetti, happy mascot,</a:t>
            </a:r>
            <a:br/>
            <a:r>
              <a:t>encouraging messages.</a:t>
            </a:r>
            <a:br/>
            <a:r>
              <a:t>Positive reinforcement</a:t>
            </a:r>
            <a:br/>
            <a:r>
              <a:t>after every quest.</a:t>
            </a:r>
          </a:p>
        </p:txBody>
      </p:sp>
      <p:sp>
        <p:nvSpPr>
          <p:cNvPr id="20" name="Rounded Rectangle 19"/>
          <p:cNvSpPr/>
          <p:nvPr/>
        </p:nvSpPr>
        <p:spPr>
          <a:xfrm>
            <a:off x="731520" y="5486400"/>
            <a:ext cx="10698480" cy="822960"/>
          </a:xfrm>
          <a:prstGeom prst="roundRect">
            <a:avLst/>
          </a:prstGeom>
          <a:solidFill>
            <a:srgbClr val="7C3AED">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5532120"/>
            <a:ext cx="10332720" cy="777240"/>
          </a:xfrm>
          <a:prstGeom prst="rect">
            <a:avLst/>
          </a:prstGeom>
          <a:noFill/>
        </p:spPr>
        <p:txBody>
          <a:bodyPr wrap="square">
            <a:spAutoFit/>
          </a:bodyPr>
          <a:lstStyle/>
          <a:p>
            <a:pPr algn="ctr">
              <a:defRPr sz="1600" b="0">
                <a:solidFill>
                  <a:srgbClr val="FFFFFF"/>
                </a:solidFill>
                <a:latin typeface="Arial"/>
              </a:defRPr>
            </a:pPr>
            <a:r>
              <a:t>Small wins combat procrastination  ·  Weather-matched activities fight seasonal depression  ·  Gamification builds lasting habits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1B4B"/>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9144000" cy="731520"/>
          </a:xfrm>
          <a:prstGeom prst="rect">
            <a:avLst/>
          </a:prstGeom>
          <a:noFill/>
        </p:spPr>
        <p:txBody>
          <a:bodyPr wrap="square">
            <a:spAutoFit/>
          </a:bodyPr>
          <a:lstStyle/>
          <a:p>
            <a:pPr algn="l">
              <a:defRPr sz="3600" b="1">
                <a:solidFill>
                  <a:srgbClr val="FFFFFF"/>
                </a:solidFill>
                <a:latin typeface="Arial"/>
              </a:defRPr>
            </a:pPr>
            <a:r>
              <a:t>Key Web Dev Concepts Learned</a:t>
            </a:r>
          </a:p>
        </p:txBody>
      </p:sp>
      <p:sp>
        <p:nvSpPr>
          <p:cNvPr id="3" name="Rectangle 2"/>
          <p:cNvSpPr/>
          <p:nvPr/>
        </p:nvSpPr>
        <p:spPr>
          <a:xfrm>
            <a:off x="731520" y="1188720"/>
            <a:ext cx="1828800"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554480"/>
            <a:ext cx="3474720" cy="4572000"/>
          </a:xfrm>
          <a:prstGeom prst="roundRect">
            <a:avLst/>
          </a:prstGeom>
          <a:solidFill>
            <a:srgbClr val="4C1D95">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37360"/>
            <a:ext cx="3474720" cy="457200"/>
          </a:xfrm>
          <a:prstGeom prst="rect">
            <a:avLst/>
          </a:prstGeom>
          <a:noFill/>
        </p:spPr>
        <p:txBody>
          <a:bodyPr wrap="square">
            <a:spAutoFit/>
          </a:bodyPr>
          <a:lstStyle/>
          <a:p>
            <a:pPr algn="ctr">
              <a:defRPr sz="2400" b="1">
                <a:solidFill>
                  <a:srgbClr val="FBBF24"/>
                </a:solidFill>
                <a:latin typeface="Arial"/>
              </a:defRPr>
            </a:pPr>
            <a:r>
              <a:t>CSS</a:t>
            </a:r>
          </a:p>
        </p:txBody>
      </p:sp>
      <p:sp>
        <p:nvSpPr>
          <p:cNvPr id="6" name="TextBox 5"/>
          <p:cNvSpPr txBox="1"/>
          <p:nvPr/>
        </p:nvSpPr>
        <p:spPr>
          <a:xfrm>
            <a:off x="883920" y="2377440"/>
            <a:ext cx="3108960" cy="3474720"/>
          </a:xfrm>
          <a:prstGeom prst="rect">
            <a:avLst/>
          </a:prstGeom>
          <a:noFill/>
        </p:spPr>
        <p:txBody>
          <a:bodyPr wrap="square">
            <a:spAutoFit/>
          </a:bodyPr>
          <a:lstStyle/>
          <a:p>
            <a:pPr>
              <a:spcAft>
                <a:spcPts val="1000"/>
              </a:spcAft>
              <a:defRPr sz="1500">
                <a:solidFill>
                  <a:srgbClr val="E9D5FF"/>
                </a:solidFill>
                <a:latin typeface="Arial"/>
              </a:defRPr>
            </a:pPr>
            <a:r>
              <a:t>Custom Properties (:root variables) for theming</a:t>
            </a:r>
          </a:p>
          <a:p>
            <a:pPr>
              <a:spcAft>
                <a:spcPts val="1000"/>
              </a:spcAft>
              <a:defRPr sz="1500">
                <a:solidFill>
                  <a:srgbClr val="E9D5FF"/>
                </a:solidFill>
                <a:latin typeface="Arial"/>
              </a:defRPr>
            </a:pPr>
            <a:r>
              <a:t>Glassmorphism (backdrop-filter, rgba, blur)</a:t>
            </a:r>
          </a:p>
          <a:p>
            <a:pPr>
              <a:spcAft>
                <a:spcPts val="1000"/>
              </a:spcAft>
              <a:defRPr sz="1500">
                <a:solidFill>
                  <a:srgbClr val="E9D5FF"/>
                </a:solidFill>
                <a:latin typeface="Arial"/>
              </a:defRPr>
            </a:pPr>
            <a:r>
              <a:t>@keyframes animations (float, wave, slide)</a:t>
            </a:r>
          </a:p>
          <a:p>
            <a:pPr>
              <a:spcAft>
                <a:spcPts val="1000"/>
              </a:spcAft>
              <a:defRPr sz="1500">
                <a:solidFill>
                  <a:srgbClr val="E9D5FF"/>
                </a:solidFill>
                <a:latin typeface="Arial"/>
              </a:defRPr>
            </a:pPr>
            <a:r>
              <a:t>Responsive design with media queries</a:t>
            </a:r>
          </a:p>
        </p:txBody>
      </p:sp>
      <p:sp>
        <p:nvSpPr>
          <p:cNvPr id="7" name="Rounded Rectangle 6"/>
          <p:cNvSpPr/>
          <p:nvPr/>
        </p:nvSpPr>
        <p:spPr>
          <a:xfrm>
            <a:off x="4480559" y="1554480"/>
            <a:ext cx="3474720" cy="4572000"/>
          </a:xfrm>
          <a:prstGeom prst="roundRect">
            <a:avLst/>
          </a:prstGeom>
          <a:solidFill>
            <a:srgbClr val="4C1D95">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80559" y="1737360"/>
            <a:ext cx="3474720" cy="457200"/>
          </a:xfrm>
          <a:prstGeom prst="rect">
            <a:avLst/>
          </a:prstGeom>
          <a:noFill/>
        </p:spPr>
        <p:txBody>
          <a:bodyPr wrap="square">
            <a:spAutoFit/>
          </a:bodyPr>
          <a:lstStyle/>
          <a:p>
            <a:pPr algn="ctr">
              <a:defRPr sz="2400" b="1">
                <a:solidFill>
                  <a:srgbClr val="FBBF24"/>
                </a:solidFill>
                <a:latin typeface="Arial"/>
              </a:defRPr>
            </a:pPr>
            <a:r>
              <a:t>JavaScript</a:t>
            </a:r>
          </a:p>
        </p:txBody>
      </p:sp>
      <p:sp>
        <p:nvSpPr>
          <p:cNvPr id="9" name="TextBox 8"/>
          <p:cNvSpPr txBox="1"/>
          <p:nvPr/>
        </p:nvSpPr>
        <p:spPr>
          <a:xfrm>
            <a:off x="4632959" y="2377440"/>
            <a:ext cx="3108960" cy="3474720"/>
          </a:xfrm>
          <a:prstGeom prst="rect">
            <a:avLst/>
          </a:prstGeom>
          <a:noFill/>
        </p:spPr>
        <p:txBody>
          <a:bodyPr wrap="square">
            <a:spAutoFit/>
          </a:bodyPr>
          <a:lstStyle/>
          <a:p>
            <a:pPr>
              <a:spcAft>
                <a:spcPts val="1000"/>
              </a:spcAft>
              <a:defRPr sz="1500">
                <a:solidFill>
                  <a:srgbClr val="E9D5FF"/>
                </a:solidFill>
                <a:latin typeface="Arial"/>
              </a:defRPr>
            </a:pPr>
            <a:r>
              <a:t>DOM manipulation (getElementById, events)</a:t>
            </a:r>
          </a:p>
          <a:p>
            <a:pPr>
              <a:spcAft>
                <a:spcPts val="1000"/>
              </a:spcAft>
              <a:defRPr sz="1500">
                <a:solidFill>
                  <a:srgbClr val="E9D5FF"/>
                </a:solidFill>
                <a:latin typeface="Arial"/>
              </a:defRPr>
            </a:pPr>
            <a:r>
              <a:t>Async/Await with Fetch API</a:t>
            </a:r>
          </a:p>
          <a:p>
            <a:pPr>
              <a:spcAft>
                <a:spcPts val="1000"/>
              </a:spcAft>
              <a:defRPr sz="1500">
                <a:solidFill>
                  <a:srgbClr val="E9D5FF"/>
                </a:solidFill>
                <a:latin typeface="Arial"/>
              </a:defRPr>
            </a:pPr>
            <a:r>
              <a:t>localStorage for data persistence</a:t>
            </a:r>
          </a:p>
          <a:p>
            <a:pPr>
              <a:spcAft>
                <a:spcPts val="1000"/>
              </a:spcAft>
              <a:defRPr sz="1500">
                <a:solidFill>
                  <a:srgbClr val="E9D5FF"/>
                </a:solidFill>
                <a:latin typeface="Arial"/>
              </a:defRPr>
            </a:pPr>
            <a:r>
              <a:t>setInterval for timers &amp; progress bars</a:t>
            </a:r>
          </a:p>
        </p:txBody>
      </p:sp>
      <p:sp>
        <p:nvSpPr>
          <p:cNvPr id="10" name="Rounded Rectangle 9"/>
          <p:cNvSpPr/>
          <p:nvPr/>
        </p:nvSpPr>
        <p:spPr>
          <a:xfrm>
            <a:off x="8229598" y="1554480"/>
            <a:ext cx="3474720" cy="4572000"/>
          </a:xfrm>
          <a:prstGeom prst="roundRect">
            <a:avLst/>
          </a:prstGeom>
          <a:solidFill>
            <a:srgbClr val="4C1D95">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598" y="1737360"/>
            <a:ext cx="3474720" cy="457200"/>
          </a:xfrm>
          <a:prstGeom prst="rect">
            <a:avLst/>
          </a:prstGeom>
          <a:noFill/>
        </p:spPr>
        <p:txBody>
          <a:bodyPr wrap="square">
            <a:spAutoFit/>
          </a:bodyPr>
          <a:lstStyle/>
          <a:p>
            <a:pPr algn="ctr">
              <a:defRPr sz="2400" b="1">
                <a:solidFill>
                  <a:srgbClr val="FBBF24"/>
                </a:solidFill>
                <a:latin typeface="Arial"/>
              </a:defRPr>
            </a:pPr>
            <a:r>
              <a:t>APIs &amp; SVG</a:t>
            </a:r>
          </a:p>
        </p:txBody>
      </p:sp>
      <p:sp>
        <p:nvSpPr>
          <p:cNvPr id="12" name="TextBox 11"/>
          <p:cNvSpPr txBox="1"/>
          <p:nvPr/>
        </p:nvSpPr>
        <p:spPr>
          <a:xfrm>
            <a:off x="8381998" y="2377440"/>
            <a:ext cx="3108960" cy="3474720"/>
          </a:xfrm>
          <a:prstGeom prst="rect">
            <a:avLst/>
          </a:prstGeom>
          <a:noFill/>
        </p:spPr>
        <p:txBody>
          <a:bodyPr wrap="square">
            <a:spAutoFit/>
          </a:bodyPr>
          <a:lstStyle/>
          <a:p>
            <a:pPr>
              <a:spcAft>
                <a:spcPts val="1000"/>
              </a:spcAft>
              <a:defRPr sz="1500">
                <a:solidFill>
                  <a:srgbClr val="E9D5FF"/>
                </a:solidFill>
                <a:latin typeface="Arial"/>
              </a:defRPr>
            </a:pPr>
            <a:r>
              <a:t>RESTful API consumption (Open-Meteo)</a:t>
            </a:r>
          </a:p>
          <a:p>
            <a:pPr>
              <a:spcAft>
                <a:spcPts val="1000"/>
              </a:spcAft>
              <a:defRPr sz="1500">
                <a:solidFill>
                  <a:srgbClr val="E9D5FF"/>
                </a:solidFill>
                <a:latin typeface="Arial"/>
              </a:defRPr>
            </a:pPr>
            <a:r>
              <a:t>JSON parsing and error handling</a:t>
            </a:r>
          </a:p>
          <a:p>
            <a:pPr>
              <a:spcAft>
                <a:spcPts val="1000"/>
              </a:spcAft>
              <a:defRPr sz="1500">
                <a:solidFill>
                  <a:srgbClr val="E9D5FF"/>
                </a:solidFill>
                <a:latin typeface="Arial"/>
              </a:defRPr>
            </a:pPr>
            <a:r>
              <a:t>SVG shapes and coordinate systems</a:t>
            </a:r>
          </a:p>
          <a:p>
            <a:pPr>
              <a:spcAft>
                <a:spcPts val="1000"/>
              </a:spcAft>
              <a:defRPr sz="1500">
                <a:solidFill>
                  <a:srgbClr val="E9D5FF"/>
                </a:solidFill>
                <a:latin typeface="Arial"/>
              </a:defRPr>
            </a:pPr>
            <a:r>
              <a:t>Dynamic SVG modification via JS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1B4B"/>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9144000" cy="731520"/>
          </a:xfrm>
          <a:prstGeom prst="rect">
            <a:avLst/>
          </a:prstGeom>
          <a:noFill/>
        </p:spPr>
        <p:txBody>
          <a:bodyPr wrap="square">
            <a:spAutoFit/>
          </a:bodyPr>
          <a:lstStyle/>
          <a:p>
            <a:pPr algn="l">
              <a:defRPr sz="3600" b="1">
                <a:solidFill>
                  <a:srgbClr val="FFFFFF"/>
                </a:solidFill>
                <a:latin typeface="Arial"/>
              </a:defRPr>
            </a:pPr>
            <a:r>
              <a:t>Developing with Claude Code</a:t>
            </a:r>
          </a:p>
        </p:txBody>
      </p:sp>
      <p:sp>
        <p:nvSpPr>
          <p:cNvPr id="3" name="Rectangle 2"/>
          <p:cNvSpPr/>
          <p:nvPr/>
        </p:nvSpPr>
        <p:spPr>
          <a:xfrm>
            <a:off x="731520" y="1188720"/>
            <a:ext cx="1828800"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554480"/>
            <a:ext cx="2011680" cy="228600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91640"/>
            <a:ext cx="2011680" cy="457200"/>
          </a:xfrm>
          <a:prstGeom prst="rect">
            <a:avLst/>
          </a:prstGeom>
          <a:noFill/>
        </p:spPr>
        <p:txBody>
          <a:bodyPr wrap="square">
            <a:spAutoFit/>
          </a:bodyPr>
          <a:lstStyle/>
          <a:p>
            <a:pPr algn="ctr">
              <a:defRPr sz="3200" b="0">
                <a:solidFill>
                  <a:srgbClr val="FFFFFF"/>
                </a:solidFill>
                <a:latin typeface="Arial"/>
              </a:defRPr>
            </a:pPr>
            <a:r>
              <a:t>💬</a:t>
            </a:r>
          </a:p>
        </p:txBody>
      </p:sp>
      <p:sp>
        <p:nvSpPr>
          <p:cNvPr id="6" name="TextBox 5"/>
          <p:cNvSpPr txBox="1"/>
          <p:nvPr/>
        </p:nvSpPr>
        <p:spPr>
          <a:xfrm>
            <a:off x="457200" y="2194560"/>
            <a:ext cx="2011680" cy="365760"/>
          </a:xfrm>
          <a:prstGeom prst="rect">
            <a:avLst/>
          </a:prstGeom>
          <a:noFill/>
        </p:spPr>
        <p:txBody>
          <a:bodyPr wrap="square">
            <a:spAutoFit/>
          </a:bodyPr>
          <a:lstStyle/>
          <a:p>
            <a:pPr algn="ctr">
              <a:defRPr sz="1800" b="1">
                <a:solidFill>
                  <a:srgbClr val="FBBF24"/>
                </a:solidFill>
                <a:latin typeface="Arial"/>
              </a:defRPr>
            </a:pPr>
            <a:r>
              <a:t>Describe</a:t>
            </a:r>
          </a:p>
        </p:txBody>
      </p:sp>
      <p:sp>
        <p:nvSpPr>
          <p:cNvPr id="7" name="TextBox 6"/>
          <p:cNvSpPr txBox="1"/>
          <p:nvPr/>
        </p:nvSpPr>
        <p:spPr>
          <a:xfrm>
            <a:off x="558800" y="2651760"/>
            <a:ext cx="1828800" cy="914400"/>
          </a:xfrm>
          <a:prstGeom prst="rect">
            <a:avLst/>
          </a:prstGeom>
          <a:noFill/>
        </p:spPr>
        <p:txBody>
          <a:bodyPr wrap="square">
            <a:spAutoFit/>
          </a:bodyPr>
          <a:lstStyle/>
          <a:p>
            <a:pPr algn="ctr">
              <a:defRPr sz="1300" b="0">
                <a:solidFill>
                  <a:srgbClr val="E9D5FF"/>
                </a:solidFill>
                <a:latin typeface="Arial"/>
              </a:defRPr>
            </a:pPr>
            <a:r>
              <a:t>Tell Claude what you want to build</a:t>
            </a:r>
            <a:br/>
            <a:r>
              <a:t>with specific details</a:t>
            </a:r>
          </a:p>
        </p:txBody>
      </p:sp>
      <p:sp>
        <p:nvSpPr>
          <p:cNvPr id="8" name="TextBox 7"/>
          <p:cNvSpPr txBox="1"/>
          <p:nvPr/>
        </p:nvSpPr>
        <p:spPr>
          <a:xfrm>
            <a:off x="2377440" y="2286000"/>
            <a:ext cx="457200" cy="457200"/>
          </a:xfrm>
          <a:prstGeom prst="rect">
            <a:avLst/>
          </a:prstGeom>
          <a:noFill/>
        </p:spPr>
        <p:txBody>
          <a:bodyPr wrap="square">
            <a:spAutoFit/>
          </a:bodyPr>
          <a:lstStyle/>
          <a:p>
            <a:pPr algn="l">
              <a:defRPr sz="2400" b="0">
                <a:solidFill>
                  <a:srgbClr val="7C3AED"/>
                </a:solidFill>
                <a:latin typeface="Arial"/>
              </a:defRPr>
            </a:pPr>
            <a:r>
              <a:t>→</a:t>
            </a:r>
          </a:p>
        </p:txBody>
      </p:sp>
      <p:sp>
        <p:nvSpPr>
          <p:cNvPr id="9" name="Rounded Rectangle 8"/>
          <p:cNvSpPr/>
          <p:nvPr/>
        </p:nvSpPr>
        <p:spPr>
          <a:xfrm>
            <a:off x="2743200" y="1554480"/>
            <a:ext cx="2011680" cy="228600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0" y="1691640"/>
            <a:ext cx="2011680" cy="457200"/>
          </a:xfrm>
          <a:prstGeom prst="rect">
            <a:avLst/>
          </a:prstGeom>
          <a:noFill/>
        </p:spPr>
        <p:txBody>
          <a:bodyPr wrap="square">
            <a:spAutoFit/>
          </a:bodyPr>
          <a:lstStyle/>
          <a:p>
            <a:pPr algn="ctr">
              <a:defRPr sz="3200" b="0">
                <a:solidFill>
                  <a:srgbClr val="FFFFFF"/>
                </a:solidFill>
                <a:latin typeface="Arial"/>
              </a:defRPr>
            </a:pPr>
            <a:r>
              <a:t>⚙️</a:t>
            </a:r>
          </a:p>
        </p:txBody>
      </p:sp>
      <p:sp>
        <p:nvSpPr>
          <p:cNvPr id="11" name="TextBox 10"/>
          <p:cNvSpPr txBox="1"/>
          <p:nvPr/>
        </p:nvSpPr>
        <p:spPr>
          <a:xfrm>
            <a:off x="2743200" y="2194560"/>
            <a:ext cx="2011680" cy="365760"/>
          </a:xfrm>
          <a:prstGeom prst="rect">
            <a:avLst/>
          </a:prstGeom>
          <a:noFill/>
        </p:spPr>
        <p:txBody>
          <a:bodyPr wrap="square">
            <a:spAutoFit/>
          </a:bodyPr>
          <a:lstStyle/>
          <a:p>
            <a:pPr algn="ctr">
              <a:defRPr sz="1800" b="1">
                <a:solidFill>
                  <a:srgbClr val="FBBF24"/>
                </a:solidFill>
                <a:latin typeface="Arial"/>
              </a:defRPr>
            </a:pPr>
            <a:r>
              <a:t>Generate</a:t>
            </a:r>
          </a:p>
        </p:txBody>
      </p:sp>
      <p:sp>
        <p:nvSpPr>
          <p:cNvPr id="12" name="TextBox 11"/>
          <p:cNvSpPr txBox="1"/>
          <p:nvPr/>
        </p:nvSpPr>
        <p:spPr>
          <a:xfrm>
            <a:off x="2844800" y="2651760"/>
            <a:ext cx="1828800" cy="914400"/>
          </a:xfrm>
          <a:prstGeom prst="rect">
            <a:avLst/>
          </a:prstGeom>
          <a:noFill/>
        </p:spPr>
        <p:txBody>
          <a:bodyPr wrap="square">
            <a:spAutoFit/>
          </a:bodyPr>
          <a:lstStyle/>
          <a:p>
            <a:pPr algn="ctr">
              <a:defRPr sz="1300" b="0">
                <a:solidFill>
                  <a:srgbClr val="E9D5FF"/>
                </a:solidFill>
                <a:latin typeface="Arial"/>
              </a:defRPr>
            </a:pPr>
            <a:r>
              <a:t>Claude writes the initial code</a:t>
            </a:r>
            <a:br/>
            <a:r>
              <a:t>structure and logic</a:t>
            </a:r>
          </a:p>
        </p:txBody>
      </p:sp>
      <p:sp>
        <p:nvSpPr>
          <p:cNvPr id="13" name="TextBox 12"/>
          <p:cNvSpPr txBox="1"/>
          <p:nvPr/>
        </p:nvSpPr>
        <p:spPr>
          <a:xfrm>
            <a:off x="4663440" y="2286000"/>
            <a:ext cx="457200" cy="457200"/>
          </a:xfrm>
          <a:prstGeom prst="rect">
            <a:avLst/>
          </a:prstGeom>
          <a:noFill/>
        </p:spPr>
        <p:txBody>
          <a:bodyPr wrap="square">
            <a:spAutoFit/>
          </a:bodyPr>
          <a:lstStyle/>
          <a:p>
            <a:pPr algn="l">
              <a:defRPr sz="2400" b="0">
                <a:solidFill>
                  <a:srgbClr val="7C3AED"/>
                </a:solidFill>
                <a:latin typeface="Arial"/>
              </a:defRPr>
            </a:pPr>
            <a:r>
              <a:t>→</a:t>
            </a:r>
          </a:p>
        </p:txBody>
      </p:sp>
      <p:sp>
        <p:nvSpPr>
          <p:cNvPr id="14" name="Rounded Rectangle 13"/>
          <p:cNvSpPr/>
          <p:nvPr/>
        </p:nvSpPr>
        <p:spPr>
          <a:xfrm>
            <a:off x="5029200" y="1554480"/>
            <a:ext cx="2011680" cy="228600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0" y="1691640"/>
            <a:ext cx="2011680" cy="457200"/>
          </a:xfrm>
          <a:prstGeom prst="rect">
            <a:avLst/>
          </a:prstGeom>
          <a:noFill/>
        </p:spPr>
        <p:txBody>
          <a:bodyPr wrap="square">
            <a:spAutoFit/>
          </a:bodyPr>
          <a:lstStyle/>
          <a:p>
            <a:pPr algn="ctr">
              <a:defRPr sz="3200" b="0">
                <a:solidFill>
                  <a:srgbClr val="FFFFFF"/>
                </a:solidFill>
                <a:latin typeface="Arial"/>
              </a:defRPr>
            </a:pPr>
            <a:r>
              <a:t>👀</a:t>
            </a:r>
          </a:p>
        </p:txBody>
      </p:sp>
      <p:sp>
        <p:nvSpPr>
          <p:cNvPr id="16" name="TextBox 15"/>
          <p:cNvSpPr txBox="1"/>
          <p:nvPr/>
        </p:nvSpPr>
        <p:spPr>
          <a:xfrm>
            <a:off x="5029200" y="2194560"/>
            <a:ext cx="2011680" cy="365760"/>
          </a:xfrm>
          <a:prstGeom prst="rect">
            <a:avLst/>
          </a:prstGeom>
          <a:noFill/>
        </p:spPr>
        <p:txBody>
          <a:bodyPr wrap="square">
            <a:spAutoFit/>
          </a:bodyPr>
          <a:lstStyle/>
          <a:p>
            <a:pPr algn="ctr">
              <a:defRPr sz="1800" b="1">
                <a:solidFill>
                  <a:srgbClr val="FBBF24"/>
                </a:solidFill>
                <a:latin typeface="Arial"/>
              </a:defRPr>
            </a:pPr>
            <a:r>
              <a:t>Review</a:t>
            </a:r>
          </a:p>
        </p:txBody>
      </p:sp>
      <p:sp>
        <p:nvSpPr>
          <p:cNvPr id="17" name="TextBox 16"/>
          <p:cNvSpPr txBox="1"/>
          <p:nvPr/>
        </p:nvSpPr>
        <p:spPr>
          <a:xfrm>
            <a:off x="5130800" y="2651760"/>
            <a:ext cx="1828800" cy="914400"/>
          </a:xfrm>
          <a:prstGeom prst="rect">
            <a:avLst/>
          </a:prstGeom>
          <a:noFill/>
        </p:spPr>
        <p:txBody>
          <a:bodyPr wrap="square">
            <a:spAutoFit/>
          </a:bodyPr>
          <a:lstStyle/>
          <a:p>
            <a:pPr algn="ctr">
              <a:defRPr sz="1300" b="0">
                <a:solidFill>
                  <a:srgbClr val="E9D5FF"/>
                </a:solidFill>
                <a:latin typeface="Arial"/>
              </a:defRPr>
            </a:pPr>
            <a:r>
              <a:t>Read and understand every line</a:t>
            </a:r>
            <a:br/>
            <a:r>
              <a:t>of generated code</a:t>
            </a:r>
          </a:p>
        </p:txBody>
      </p:sp>
      <p:sp>
        <p:nvSpPr>
          <p:cNvPr id="18" name="TextBox 17"/>
          <p:cNvSpPr txBox="1"/>
          <p:nvPr/>
        </p:nvSpPr>
        <p:spPr>
          <a:xfrm>
            <a:off x="6949440" y="2286000"/>
            <a:ext cx="457200" cy="457200"/>
          </a:xfrm>
          <a:prstGeom prst="rect">
            <a:avLst/>
          </a:prstGeom>
          <a:noFill/>
        </p:spPr>
        <p:txBody>
          <a:bodyPr wrap="square">
            <a:spAutoFit/>
          </a:bodyPr>
          <a:lstStyle/>
          <a:p>
            <a:pPr algn="l">
              <a:defRPr sz="2400" b="0">
                <a:solidFill>
                  <a:srgbClr val="7C3AED"/>
                </a:solidFill>
                <a:latin typeface="Arial"/>
              </a:defRPr>
            </a:pPr>
            <a:r>
              <a:t>→</a:t>
            </a:r>
          </a:p>
        </p:txBody>
      </p:sp>
      <p:sp>
        <p:nvSpPr>
          <p:cNvPr id="19" name="Rounded Rectangle 18"/>
          <p:cNvSpPr/>
          <p:nvPr/>
        </p:nvSpPr>
        <p:spPr>
          <a:xfrm>
            <a:off x="7315200" y="1554480"/>
            <a:ext cx="2011680" cy="228600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0" y="1691640"/>
            <a:ext cx="2011680" cy="457200"/>
          </a:xfrm>
          <a:prstGeom prst="rect">
            <a:avLst/>
          </a:prstGeom>
          <a:noFill/>
        </p:spPr>
        <p:txBody>
          <a:bodyPr wrap="square">
            <a:spAutoFit/>
          </a:bodyPr>
          <a:lstStyle/>
          <a:p>
            <a:pPr algn="ctr">
              <a:defRPr sz="3200" b="0">
                <a:solidFill>
                  <a:srgbClr val="FFFFFF"/>
                </a:solidFill>
                <a:latin typeface="Arial"/>
              </a:defRPr>
            </a:pPr>
            <a:r>
              <a:t>🔄</a:t>
            </a:r>
          </a:p>
        </p:txBody>
      </p:sp>
      <p:sp>
        <p:nvSpPr>
          <p:cNvPr id="21" name="TextBox 20"/>
          <p:cNvSpPr txBox="1"/>
          <p:nvPr/>
        </p:nvSpPr>
        <p:spPr>
          <a:xfrm>
            <a:off x="7315200" y="2194560"/>
            <a:ext cx="2011680" cy="365760"/>
          </a:xfrm>
          <a:prstGeom prst="rect">
            <a:avLst/>
          </a:prstGeom>
          <a:noFill/>
        </p:spPr>
        <p:txBody>
          <a:bodyPr wrap="square">
            <a:spAutoFit/>
          </a:bodyPr>
          <a:lstStyle/>
          <a:p>
            <a:pPr algn="ctr">
              <a:defRPr sz="1800" b="1">
                <a:solidFill>
                  <a:srgbClr val="FBBF24"/>
                </a:solidFill>
                <a:latin typeface="Arial"/>
              </a:defRPr>
            </a:pPr>
            <a:r>
              <a:t>Refine</a:t>
            </a:r>
          </a:p>
        </p:txBody>
      </p:sp>
      <p:sp>
        <p:nvSpPr>
          <p:cNvPr id="22" name="TextBox 21"/>
          <p:cNvSpPr txBox="1"/>
          <p:nvPr/>
        </p:nvSpPr>
        <p:spPr>
          <a:xfrm>
            <a:off x="7416800" y="2651760"/>
            <a:ext cx="1828800" cy="914400"/>
          </a:xfrm>
          <a:prstGeom prst="rect">
            <a:avLst/>
          </a:prstGeom>
          <a:noFill/>
        </p:spPr>
        <p:txBody>
          <a:bodyPr wrap="square">
            <a:spAutoFit/>
          </a:bodyPr>
          <a:lstStyle/>
          <a:p>
            <a:pPr algn="ctr">
              <a:defRPr sz="1300" b="0">
                <a:solidFill>
                  <a:srgbClr val="E9D5FF"/>
                </a:solidFill>
                <a:latin typeface="Arial"/>
              </a:defRPr>
            </a:pPr>
            <a:r>
              <a:t>Preview, find issues, ask Claude</a:t>
            </a:r>
            <a:br/>
            <a:r>
              <a:t>to fix specific problems</a:t>
            </a:r>
          </a:p>
        </p:txBody>
      </p:sp>
      <p:sp>
        <p:nvSpPr>
          <p:cNvPr id="23" name="TextBox 22"/>
          <p:cNvSpPr txBox="1"/>
          <p:nvPr/>
        </p:nvSpPr>
        <p:spPr>
          <a:xfrm>
            <a:off x="9235440" y="2286000"/>
            <a:ext cx="457200" cy="457200"/>
          </a:xfrm>
          <a:prstGeom prst="rect">
            <a:avLst/>
          </a:prstGeom>
          <a:noFill/>
        </p:spPr>
        <p:txBody>
          <a:bodyPr wrap="square">
            <a:spAutoFit/>
          </a:bodyPr>
          <a:lstStyle/>
          <a:p>
            <a:pPr algn="l">
              <a:defRPr sz="2400" b="0">
                <a:solidFill>
                  <a:srgbClr val="7C3AED"/>
                </a:solidFill>
                <a:latin typeface="Arial"/>
              </a:defRPr>
            </a:pPr>
            <a:r>
              <a:t>→</a:t>
            </a:r>
          </a:p>
        </p:txBody>
      </p:sp>
      <p:sp>
        <p:nvSpPr>
          <p:cNvPr id="24" name="Rounded Rectangle 23"/>
          <p:cNvSpPr/>
          <p:nvPr/>
        </p:nvSpPr>
        <p:spPr>
          <a:xfrm>
            <a:off x="9601200" y="1554480"/>
            <a:ext cx="2011680" cy="228600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01200" y="1691640"/>
            <a:ext cx="2011680" cy="457200"/>
          </a:xfrm>
          <a:prstGeom prst="rect">
            <a:avLst/>
          </a:prstGeom>
          <a:noFill/>
        </p:spPr>
        <p:txBody>
          <a:bodyPr wrap="square">
            <a:spAutoFit/>
          </a:bodyPr>
          <a:lstStyle/>
          <a:p>
            <a:pPr algn="ctr">
              <a:defRPr sz="3200" b="0">
                <a:solidFill>
                  <a:srgbClr val="FFFFFF"/>
                </a:solidFill>
                <a:latin typeface="Arial"/>
              </a:defRPr>
            </a:pPr>
            <a:r>
              <a:t>💡</a:t>
            </a:r>
          </a:p>
        </p:txBody>
      </p:sp>
      <p:sp>
        <p:nvSpPr>
          <p:cNvPr id="26" name="TextBox 25"/>
          <p:cNvSpPr txBox="1"/>
          <p:nvPr/>
        </p:nvSpPr>
        <p:spPr>
          <a:xfrm>
            <a:off x="9601200" y="2194560"/>
            <a:ext cx="2011680" cy="365760"/>
          </a:xfrm>
          <a:prstGeom prst="rect">
            <a:avLst/>
          </a:prstGeom>
          <a:noFill/>
        </p:spPr>
        <p:txBody>
          <a:bodyPr wrap="square">
            <a:spAutoFit/>
          </a:bodyPr>
          <a:lstStyle/>
          <a:p>
            <a:pPr algn="ctr">
              <a:defRPr sz="1800" b="1">
                <a:solidFill>
                  <a:srgbClr val="FBBF24"/>
                </a:solidFill>
                <a:latin typeface="Arial"/>
              </a:defRPr>
            </a:pPr>
            <a:r>
              <a:t>Learn</a:t>
            </a:r>
          </a:p>
        </p:txBody>
      </p:sp>
      <p:sp>
        <p:nvSpPr>
          <p:cNvPr id="27" name="TextBox 26"/>
          <p:cNvSpPr txBox="1"/>
          <p:nvPr/>
        </p:nvSpPr>
        <p:spPr>
          <a:xfrm>
            <a:off x="9702800" y="2651760"/>
            <a:ext cx="1828800" cy="914400"/>
          </a:xfrm>
          <a:prstGeom prst="rect">
            <a:avLst/>
          </a:prstGeom>
          <a:noFill/>
        </p:spPr>
        <p:txBody>
          <a:bodyPr wrap="square">
            <a:spAutoFit/>
          </a:bodyPr>
          <a:lstStyle/>
          <a:p>
            <a:pPr algn="ctr">
              <a:defRPr sz="1300" b="0">
                <a:solidFill>
                  <a:srgbClr val="E9D5FF"/>
                </a:solidFill>
                <a:latin typeface="Arial"/>
              </a:defRPr>
            </a:pPr>
            <a:r>
              <a:t>Modify the code yourself,</a:t>
            </a:r>
            <a:br/>
            <a:r>
              <a:t>break it, understand it deeply</a:t>
            </a:r>
          </a:p>
        </p:txBody>
      </p:sp>
      <p:sp>
        <p:nvSpPr>
          <p:cNvPr id="28" name="TextBox 27"/>
          <p:cNvSpPr txBox="1"/>
          <p:nvPr/>
        </p:nvSpPr>
        <p:spPr>
          <a:xfrm>
            <a:off x="731520" y="4389120"/>
            <a:ext cx="10515600" cy="2286000"/>
          </a:xfrm>
          <a:prstGeom prst="rect">
            <a:avLst/>
          </a:prstGeom>
          <a:noFill/>
        </p:spPr>
        <p:txBody>
          <a:bodyPr wrap="square">
            <a:spAutoFit/>
          </a:bodyPr>
          <a:lstStyle/>
          <a:p>
            <a:pPr>
              <a:spcAft>
                <a:spcPts val="600"/>
              </a:spcAft>
              <a:defRPr sz="1700">
                <a:solidFill>
                  <a:srgbClr val="C4B5FD"/>
                </a:solidFill>
                <a:latin typeface="Arial"/>
              </a:defRPr>
            </a:pPr>
            <a:r>
              <a:t>Ask Claude to explain code it generated</a:t>
            </a:r>
          </a:p>
          <a:p>
            <a:pPr>
              <a:spcAft>
                <a:spcPts val="600"/>
              </a:spcAft>
              <a:defRPr sz="1700">
                <a:solidFill>
                  <a:srgbClr val="C4B5FD"/>
                </a:solidFill>
                <a:latin typeface="Arial"/>
              </a:defRPr>
            </a:pPr>
            <a:r>
              <a:t>Use Claude for debugging — paste error messages</a:t>
            </a:r>
          </a:p>
          <a:p>
            <a:pPr>
              <a:spcAft>
                <a:spcPts val="600"/>
              </a:spcAft>
              <a:defRPr sz="1700">
                <a:solidFill>
                  <a:srgbClr val="C4B5FD"/>
                </a:solidFill>
                <a:latin typeface="Arial"/>
              </a:defRPr>
            </a:pPr>
            <a:r>
              <a:t>Request alternative approaches to compare</a:t>
            </a:r>
          </a:p>
          <a:p>
            <a:pPr>
              <a:spcAft>
                <a:spcPts val="600"/>
              </a:spcAft>
              <a:defRPr sz="1700">
                <a:solidFill>
                  <a:srgbClr val="C4B5FD"/>
                </a:solidFill>
                <a:latin typeface="Arial"/>
              </a:defRPr>
            </a:pPr>
            <a:r>
              <a:t>Use it to learn new concepts with examples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1B4B"/>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9144000" cy="731520"/>
          </a:xfrm>
          <a:prstGeom prst="rect">
            <a:avLst/>
          </a:prstGeom>
          <a:noFill/>
        </p:spPr>
        <p:txBody>
          <a:bodyPr wrap="square">
            <a:spAutoFit/>
          </a:bodyPr>
          <a:lstStyle/>
          <a:p>
            <a:pPr algn="l">
              <a:defRPr sz="3600" b="1">
                <a:solidFill>
                  <a:srgbClr val="FFFFFF"/>
                </a:solidFill>
                <a:latin typeface="Arial"/>
              </a:defRPr>
            </a:pPr>
            <a:r>
              <a:t>Effective AI Prompting</a:t>
            </a:r>
          </a:p>
        </p:txBody>
      </p:sp>
      <p:sp>
        <p:nvSpPr>
          <p:cNvPr id="3" name="Rectangle 2"/>
          <p:cNvSpPr/>
          <p:nvPr/>
        </p:nvSpPr>
        <p:spPr>
          <a:xfrm>
            <a:off x="731520" y="1188720"/>
            <a:ext cx="1828800"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554480"/>
            <a:ext cx="5029200" cy="1371600"/>
          </a:xfrm>
          <a:prstGeom prst="roundRect">
            <a:avLst/>
          </a:prstGeom>
          <a:solidFill>
            <a:srgbClr val="451A1A">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645920"/>
            <a:ext cx="914400" cy="365760"/>
          </a:xfrm>
          <a:prstGeom prst="rect">
            <a:avLst/>
          </a:prstGeom>
          <a:noFill/>
        </p:spPr>
        <p:txBody>
          <a:bodyPr wrap="square">
            <a:spAutoFit/>
          </a:bodyPr>
          <a:lstStyle/>
          <a:p>
            <a:pPr algn="l">
              <a:defRPr sz="2000" b="0">
                <a:solidFill>
                  <a:srgbClr val="FFFFFF"/>
                </a:solidFill>
                <a:latin typeface="Arial"/>
              </a:defRPr>
            </a:pPr>
            <a:r>
              <a:t>❌</a:t>
            </a:r>
          </a:p>
        </p:txBody>
      </p:sp>
      <p:sp>
        <p:nvSpPr>
          <p:cNvPr id="6" name="TextBox 5"/>
          <p:cNvSpPr txBox="1"/>
          <p:nvPr/>
        </p:nvSpPr>
        <p:spPr>
          <a:xfrm>
            <a:off x="1371600" y="1645920"/>
            <a:ext cx="1828800" cy="365760"/>
          </a:xfrm>
          <a:prstGeom prst="rect">
            <a:avLst/>
          </a:prstGeom>
          <a:noFill/>
        </p:spPr>
        <p:txBody>
          <a:bodyPr wrap="square">
            <a:spAutoFit/>
          </a:bodyPr>
          <a:lstStyle/>
          <a:p>
            <a:pPr algn="l">
              <a:defRPr sz="1600" b="1">
                <a:solidFill>
                  <a:srgbClr val="FF6B6B"/>
                </a:solidFill>
                <a:latin typeface="Arial"/>
              </a:defRPr>
            </a:pPr>
            <a:r>
              <a:t>Vague Prompt</a:t>
            </a:r>
          </a:p>
        </p:txBody>
      </p:sp>
      <p:sp>
        <p:nvSpPr>
          <p:cNvPr id="7" name="TextBox 6"/>
          <p:cNvSpPr txBox="1"/>
          <p:nvPr/>
        </p:nvSpPr>
        <p:spPr>
          <a:xfrm>
            <a:off x="1005840" y="2103120"/>
            <a:ext cx="4572000" cy="640080"/>
          </a:xfrm>
          <a:prstGeom prst="rect">
            <a:avLst/>
          </a:prstGeom>
          <a:noFill/>
        </p:spPr>
        <p:txBody>
          <a:bodyPr wrap="square">
            <a:spAutoFit/>
          </a:bodyPr>
          <a:lstStyle/>
          <a:p>
            <a:pPr algn="l">
              <a:defRPr sz="2000" b="0">
                <a:solidFill>
                  <a:srgbClr val="FFA0A0"/>
                </a:solidFill>
                <a:latin typeface="Arial"/>
              </a:defRPr>
            </a:pPr>
            <a:r>
              <a:t>"Make me a website"</a:t>
            </a:r>
          </a:p>
        </p:txBody>
      </p:sp>
      <p:sp>
        <p:nvSpPr>
          <p:cNvPr id="8" name="Rounded Rectangle 7"/>
          <p:cNvSpPr/>
          <p:nvPr/>
        </p:nvSpPr>
        <p:spPr>
          <a:xfrm>
            <a:off x="731520" y="3200400"/>
            <a:ext cx="10698480" cy="2011680"/>
          </a:xfrm>
          <a:prstGeom prst="roundRect">
            <a:avLst/>
          </a:prstGeom>
          <a:solidFill>
            <a:srgbClr val="062E1A">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291840"/>
            <a:ext cx="914400" cy="365760"/>
          </a:xfrm>
          <a:prstGeom prst="rect">
            <a:avLst/>
          </a:prstGeom>
          <a:noFill/>
        </p:spPr>
        <p:txBody>
          <a:bodyPr wrap="square">
            <a:spAutoFit/>
          </a:bodyPr>
          <a:lstStyle/>
          <a:p>
            <a:pPr algn="l">
              <a:defRPr sz="2000" b="0">
                <a:solidFill>
                  <a:srgbClr val="FFFFFF"/>
                </a:solidFill>
                <a:latin typeface="Arial"/>
              </a:defRPr>
            </a:pPr>
            <a:r>
              <a:t>✅</a:t>
            </a:r>
          </a:p>
        </p:txBody>
      </p:sp>
      <p:sp>
        <p:nvSpPr>
          <p:cNvPr id="10" name="TextBox 9"/>
          <p:cNvSpPr txBox="1"/>
          <p:nvPr/>
        </p:nvSpPr>
        <p:spPr>
          <a:xfrm>
            <a:off x="1371600" y="3291840"/>
            <a:ext cx="2743200" cy="365760"/>
          </a:xfrm>
          <a:prstGeom prst="rect">
            <a:avLst/>
          </a:prstGeom>
          <a:noFill/>
        </p:spPr>
        <p:txBody>
          <a:bodyPr wrap="square">
            <a:spAutoFit/>
          </a:bodyPr>
          <a:lstStyle/>
          <a:p>
            <a:pPr algn="l">
              <a:defRPr sz="1600" b="1">
                <a:solidFill>
                  <a:srgbClr val="6BFF6B"/>
                </a:solidFill>
                <a:latin typeface="Arial"/>
              </a:defRPr>
            </a:pPr>
            <a:r>
              <a:t>Specific Prompt</a:t>
            </a:r>
          </a:p>
        </p:txBody>
      </p:sp>
      <p:sp>
        <p:nvSpPr>
          <p:cNvPr id="11" name="TextBox 10"/>
          <p:cNvSpPr txBox="1"/>
          <p:nvPr/>
        </p:nvSpPr>
        <p:spPr>
          <a:xfrm>
            <a:off x="1005840" y="3749039"/>
            <a:ext cx="10058400" cy="1280160"/>
          </a:xfrm>
          <a:prstGeom prst="rect">
            <a:avLst/>
          </a:prstGeom>
          <a:noFill/>
        </p:spPr>
        <p:txBody>
          <a:bodyPr wrap="square">
            <a:spAutoFit/>
          </a:bodyPr>
          <a:lstStyle/>
          <a:p>
            <a:pPr algn="l">
              <a:defRPr sz="1800" b="0">
                <a:solidFill>
                  <a:srgbClr val="A0FFA0"/>
                </a:solidFill>
                <a:latin typeface="Arial"/>
              </a:defRPr>
            </a:pPr>
            <a:r>
              <a:t>"Make me a webapp that generates random life sidequests based on weather where I am located. Target students, help study/life balance, reduce procrastination and seasonal depression. Good UI with a purple panda mascot."</a:t>
            </a:r>
          </a:p>
        </p:txBody>
      </p:sp>
      <p:sp>
        <p:nvSpPr>
          <p:cNvPr id="12" name="TextBox 11"/>
          <p:cNvSpPr txBox="1"/>
          <p:nvPr/>
        </p:nvSpPr>
        <p:spPr>
          <a:xfrm>
            <a:off x="731520" y="5486400"/>
            <a:ext cx="10058400" cy="457200"/>
          </a:xfrm>
          <a:prstGeom prst="rect">
            <a:avLst/>
          </a:prstGeom>
          <a:noFill/>
        </p:spPr>
        <p:txBody>
          <a:bodyPr wrap="square">
            <a:spAutoFit/>
          </a:bodyPr>
          <a:lstStyle/>
          <a:p>
            <a:pPr algn="l">
              <a:defRPr sz="1800" b="1">
                <a:solidFill>
                  <a:srgbClr val="FBBF24"/>
                </a:solidFill>
                <a:latin typeface="Arial"/>
              </a:defRPr>
            </a:pPr>
            <a:r>
              <a:t>Key Ingredients:</a:t>
            </a:r>
          </a:p>
        </p:txBody>
      </p:sp>
      <p:sp>
        <p:nvSpPr>
          <p:cNvPr id="13" name="Rounded Rectangle 12"/>
          <p:cNvSpPr/>
          <p:nvPr/>
        </p:nvSpPr>
        <p:spPr>
          <a:xfrm>
            <a:off x="731520" y="5943600"/>
            <a:ext cx="2468880" cy="457200"/>
          </a:xfrm>
          <a:prstGeom prst="roundRect">
            <a:avLst/>
          </a:prstGeom>
          <a:solidFill>
            <a:srgbClr val="7C3AED">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5943600"/>
            <a:ext cx="2468880" cy="457200"/>
          </a:xfrm>
          <a:prstGeom prst="rect">
            <a:avLst/>
          </a:prstGeom>
          <a:noFill/>
        </p:spPr>
        <p:txBody>
          <a:bodyPr wrap="square">
            <a:spAutoFit/>
          </a:bodyPr>
          <a:lstStyle/>
          <a:p>
            <a:pPr algn="ctr">
              <a:defRPr sz="1500" b="1">
                <a:solidFill>
                  <a:srgbClr val="FFFFFF"/>
                </a:solidFill>
                <a:latin typeface="Arial"/>
              </a:defRPr>
            </a:pPr>
            <a:r>
              <a:t>What it does</a:t>
            </a:r>
          </a:p>
        </p:txBody>
      </p:sp>
      <p:sp>
        <p:nvSpPr>
          <p:cNvPr id="15" name="Rounded Rectangle 14"/>
          <p:cNvSpPr/>
          <p:nvPr/>
        </p:nvSpPr>
        <p:spPr>
          <a:xfrm>
            <a:off x="3474720" y="5943600"/>
            <a:ext cx="2468880" cy="457200"/>
          </a:xfrm>
          <a:prstGeom prst="roundRect">
            <a:avLst/>
          </a:prstGeom>
          <a:solidFill>
            <a:srgbClr val="7C3AED">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0" y="5943600"/>
            <a:ext cx="2468880" cy="457200"/>
          </a:xfrm>
          <a:prstGeom prst="rect">
            <a:avLst/>
          </a:prstGeom>
          <a:noFill/>
        </p:spPr>
        <p:txBody>
          <a:bodyPr wrap="square">
            <a:spAutoFit/>
          </a:bodyPr>
          <a:lstStyle/>
          <a:p>
            <a:pPr algn="ctr">
              <a:defRPr sz="1500" b="1">
                <a:solidFill>
                  <a:srgbClr val="FFFFFF"/>
                </a:solidFill>
                <a:latin typeface="Arial"/>
              </a:defRPr>
            </a:pPr>
            <a:r>
              <a:t>Who it's for</a:t>
            </a:r>
          </a:p>
        </p:txBody>
      </p:sp>
      <p:sp>
        <p:nvSpPr>
          <p:cNvPr id="17" name="Rounded Rectangle 16"/>
          <p:cNvSpPr/>
          <p:nvPr/>
        </p:nvSpPr>
        <p:spPr>
          <a:xfrm>
            <a:off x="6217920" y="5943600"/>
            <a:ext cx="2468880" cy="457200"/>
          </a:xfrm>
          <a:prstGeom prst="roundRect">
            <a:avLst/>
          </a:prstGeom>
          <a:solidFill>
            <a:srgbClr val="7C3AED">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20" y="5943600"/>
            <a:ext cx="2468880" cy="457200"/>
          </a:xfrm>
          <a:prstGeom prst="rect">
            <a:avLst/>
          </a:prstGeom>
          <a:noFill/>
        </p:spPr>
        <p:txBody>
          <a:bodyPr wrap="square">
            <a:spAutoFit/>
          </a:bodyPr>
          <a:lstStyle/>
          <a:p>
            <a:pPr algn="ctr">
              <a:defRPr sz="1500" b="1">
                <a:solidFill>
                  <a:srgbClr val="FFFFFF"/>
                </a:solidFill>
                <a:latin typeface="Arial"/>
              </a:defRPr>
            </a:pPr>
            <a:r>
              <a:t>How it looks</a:t>
            </a:r>
          </a:p>
        </p:txBody>
      </p:sp>
      <p:sp>
        <p:nvSpPr>
          <p:cNvPr id="19" name="Rounded Rectangle 18"/>
          <p:cNvSpPr/>
          <p:nvPr/>
        </p:nvSpPr>
        <p:spPr>
          <a:xfrm>
            <a:off x="8961120" y="5943600"/>
            <a:ext cx="2468880" cy="457200"/>
          </a:xfrm>
          <a:prstGeom prst="roundRect">
            <a:avLst/>
          </a:prstGeom>
          <a:solidFill>
            <a:srgbClr val="7C3AED">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0" y="5943600"/>
            <a:ext cx="2468880" cy="457200"/>
          </a:xfrm>
          <a:prstGeom prst="rect">
            <a:avLst/>
          </a:prstGeom>
          <a:noFill/>
        </p:spPr>
        <p:txBody>
          <a:bodyPr wrap="square">
            <a:spAutoFit/>
          </a:bodyPr>
          <a:lstStyle/>
          <a:p>
            <a:pPr algn="ctr">
              <a:defRPr sz="1500" b="1">
                <a:solidFill>
                  <a:srgbClr val="FFFFFF"/>
                </a:solidFill>
                <a:latin typeface="Arial"/>
              </a:defRPr>
            </a:pPr>
            <a:r>
              <a:t>Technical constraints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1B4B"/>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9144000" cy="731520"/>
          </a:xfrm>
          <a:prstGeom prst="rect">
            <a:avLst/>
          </a:prstGeom>
          <a:noFill/>
        </p:spPr>
        <p:txBody>
          <a:bodyPr wrap="square">
            <a:spAutoFit/>
          </a:bodyPr>
          <a:lstStyle/>
          <a:p>
            <a:pPr algn="l">
              <a:defRPr sz="3600" b="1">
                <a:solidFill>
                  <a:srgbClr val="FFFFFF"/>
                </a:solidFill>
                <a:latin typeface="Arial"/>
              </a:defRPr>
            </a:pPr>
            <a:r>
              <a:t>When to Use AI vs Code Yourself</a:t>
            </a:r>
          </a:p>
        </p:txBody>
      </p:sp>
      <p:sp>
        <p:nvSpPr>
          <p:cNvPr id="3" name="Rectangle 2"/>
          <p:cNvSpPr/>
          <p:nvPr/>
        </p:nvSpPr>
        <p:spPr>
          <a:xfrm>
            <a:off x="731520" y="1188720"/>
            <a:ext cx="1828800"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554480"/>
            <a:ext cx="5029200" cy="384048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91640"/>
            <a:ext cx="5029200" cy="457200"/>
          </a:xfrm>
          <a:prstGeom prst="rect">
            <a:avLst/>
          </a:prstGeom>
          <a:noFill/>
        </p:spPr>
        <p:txBody>
          <a:bodyPr wrap="square">
            <a:spAutoFit/>
          </a:bodyPr>
          <a:lstStyle/>
          <a:p>
            <a:pPr algn="ctr">
              <a:defRPr sz="2200" b="1">
                <a:solidFill>
                  <a:srgbClr val="7C3AED"/>
                </a:solidFill>
                <a:latin typeface="Arial"/>
              </a:defRPr>
            </a:pPr>
            <a:r>
              <a:t>🤖  Let AI Handle</a:t>
            </a:r>
          </a:p>
        </p:txBody>
      </p:sp>
      <p:sp>
        <p:nvSpPr>
          <p:cNvPr id="6" name="TextBox 5"/>
          <p:cNvSpPr txBox="1"/>
          <p:nvPr/>
        </p:nvSpPr>
        <p:spPr>
          <a:xfrm>
            <a:off x="914400" y="2286000"/>
            <a:ext cx="4572000" cy="2926080"/>
          </a:xfrm>
          <a:prstGeom prst="rect">
            <a:avLst/>
          </a:prstGeom>
          <a:noFill/>
        </p:spPr>
        <p:txBody>
          <a:bodyPr wrap="square">
            <a:spAutoFit/>
          </a:bodyPr>
          <a:lstStyle/>
          <a:p>
            <a:pPr>
              <a:spcAft>
                <a:spcPts val="800"/>
              </a:spcAft>
              <a:defRPr sz="1600">
                <a:solidFill>
                  <a:srgbClr val="E9D5FF"/>
                </a:solidFill>
                <a:latin typeface="Arial"/>
              </a:defRPr>
            </a:pPr>
            <a:r>
              <a:t>Boilerplate &amp; repetitive HTML structure</a:t>
            </a:r>
          </a:p>
          <a:p>
            <a:pPr>
              <a:spcAft>
                <a:spcPts val="800"/>
              </a:spcAft>
              <a:defRPr sz="1600">
                <a:solidFill>
                  <a:srgbClr val="E9D5FF"/>
                </a:solidFill>
                <a:latin typeface="Arial"/>
              </a:defRPr>
            </a:pPr>
            <a:r>
              <a:t>Complex CSS layouts and animations</a:t>
            </a:r>
          </a:p>
          <a:p>
            <a:pPr>
              <a:spcAft>
                <a:spcPts val="800"/>
              </a:spcAft>
              <a:defRPr sz="1600">
                <a:solidFill>
                  <a:srgbClr val="E9D5FF"/>
                </a:solidFill>
                <a:latin typeface="Arial"/>
              </a:defRPr>
            </a:pPr>
            <a:r>
              <a:t>API integration patterns and fetch logic</a:t>
            </a:r>
          </a:p>
          <a:p>
            <a:pPr>
              <a:spcAft>
                <a:spcPts val="800"/>
              </a:spcAft>
              <a:defRPr sz="1600">
                <a:solidFill>
                  <a:srgbClr val="E9D5FF"/>
                </a:solidFill>
                <a:latin typeface="Arial"/>
              </a:defRPr>
            </a:pPr>
            <a:r>
              <a:t>SVG artwork and shape composition</a:t>
            </a:r>
          </a:p>
          <a:p>
            <a:pPr>
              <a:spcAft>
                <a:spcPts val="800"/>
              </a:spcAft>
              <a:defRPr sz="1600">
                <a:solidFill>
                  <a:srgbClr val="E9D5FF"/>
                </a:solidFill>
                <a:latin typeface="Arial"/>
              </a:defRPr>
            </a:pPr>
            <a:r>
              <a:t>Initial project scaffolding</a:t>
            </a:r>
          </a:p>
        </p:txBody>
      </p:sp>
      <p:sp>
        <p:nvSpPr>
          <p:cNvPr id="7" name="Rounded Rectangle 6"/>
          <p:cNvSpPr/>
          <p:nvPr/>
        </p:nvSpPr>
        <p:spPr>
          <a:xfrm>
            <a:off x="6400800" y="1554480"/>
            <a:ext cx="5029200" cy="384048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691640"/>
            <a:ext cx="5029200" cy="457200"/>
          </a:xfrm>
          <a:prstGeom prst="rect">
            <a:avLst/>
          </a:prstGeom>
          <a:noFill/>
        </p:spPr>
        <p:txBody>
          <a:bodyPr wrap="square">
            <a:spAutoFit/>
          </a:bodyPr>
          <a:lstStyle/>
          <a:p>
            <a:pPr algn="ctr">
              <a:defRPr sz="2200" b="1">
                <a:solidFill>
                  <a:srgbClr val="FBBF24"/>
                </a:solidFill>
                <a:latin typeface="Arial"/>
              </a:defRPr>
            </a:pPr>
            <a:r>
              <a:t>✍️  Code Yourself</a:t>
            </a:r>
          </a:p>
        </p:txBody>
      </p:sp>
      <p:sp>
        <p:nvSpPr>
          <p:cNvPr id="9" name="TextBox 8"/>
          <p:cNvSpPr txBox="1"/>
          <p:nvPr/>
        </p:nvSpPr>
        <p:spPr>
          <a:xfrm>
            <a:off x="6583680" y="2286000"/>
            <a:ext cx="4572000" cy="2926080"/>
          </a:xfrm>
          <a:prstGeom prst="rect">
            <a:avLst/>
          </a:prstGeom>
          <a:noFill/>
        </p:spPr>
        <p:txBody>
          <a:bodyPr wrap="square">
            <a:spAutoFit/>
          </a:bodyPr>
          <a:lstStyle/>
          <a:p>
            <a:pPr>
              <a:spcAft>
                <a:spcPts val="800"/>
              </a:spcAft>
              <a:defRPr sz="1600">
                <a:solidFill>
                  <a:srgbClr val="E9D5FF"/>
                </a:solidFill>
                <a:latin typeface="Arial"/>
              </a:defRPr>
            </a:pPr>
            <a:r>
              <a:t>Core logic you want to deeply understand</a:t>
            </a:r>
          </a:p>
          <a:p>
            <a:pPr>
              <a:spcAft>
                <a:spcPts val="800"/>
              </a:spcAft>
              <a:defRPr sz="1600">
                <a:solidFill>
                  <a:srgbClr val="E9D5FF"/>
                </a:solidFill>
                <a:latin typeface="Arial"/>
              </a:defRPr>
            </a:pPr>
            <a:r>
              <a:t>Security-sensitive code and validation</a:t>
            </a:r>
          </a:p>
          <a:p>
            <a:pPr>
              <a:spcAft>
                <a:spcPts val="800"/>
              </a:spcAft>
              <a:defRPr sz="1600">
                <a:solidFill>
                  <a:srgbClr val="E9D5FF"/>
                </a:solidFill>
                <a:latin typeface="Arial"/>
              </a:defRPr>
            </a:pPr>
            <a:r>
              <a:t>Small, targeted modifications to existing code</a:t>
            </a:r>
          </a:p>
          <a:p>
            <a:pPr>
              <a:spcAft>
                <a:spcPts val="800"/>
              </a:spcAft>
              <a:defRPr sz="1600">
                <a:solidFill>
                  <a:srgbClr val="E9D5FF"/>
                </a:solidFill>
                <a:latin typeface="Arial"/>
              </a:defRPr>
            </a:pPr>
            <a:r>
              <a:t>Anything you want to truly learn</a:t>
            </a:r>
          </a:p>
          <a:p>
            <a:pPr>
              <a:spcAft>
                <a:spcPts val="800"/>
              </a:spcAft>
              <a:defRPr sz="1600">
                <a:solidFill>
                  <a:srgbClr val="E9D5FF"/>
                </a:solidFill>
                <a:latin typeface="Arial"/>
              </a:defRPr>
            </a:pPr>
            <a:r>
              <a:t>Debugging and troubleshooting</a:t>
            </a:r>
          </a:p>
        </p:txBody>
      </p:sp>
      <p:sp>
        <p:nvSpPr>
          <p:cNvPr id="10" name="Rounded Rectangle 9"/>
          <p:cNvSpPr/>
          <p:nvPr/>
        </p:nvSpPr>
        <p:spPr>
          <a:xfrm>
            <a:off x="2286000" y="5669280"/>
            <a:ext cx="7619695" cy="731520"/>
          </a:xfrm>
          <a:prstGeom prst="roundRect">
            <a:avLst/>
          </a:prstGeom>
          <a:solidFill>
            <a:srgbClr val="7C3AED">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86000" y="5715000"/>
            <a:ext cx="7619695" cy="685800"/>
          </a:xfrm>
          <a:prstGeom prst="rect">
            <a:avLst/>
          </a:prstGeom>
          <a:noFill/>
        </p:spPr>
        <p:txBody>
          <a:bodyPr wrap="square">
            <a:spAutoFit/>
          </a:bodyPr>
          <a:lstStyle/>
          <a:p>
            <a:pPr algn="ctr">
              <a:defRPr sz="2000" b="1">
                <a:solidFill>
                  <a:srgbClr val="FFFFFF"/>
                </a:solidFill>
                <a:latin typeface="Arial"/>
              </a:defRPr>
            </a:pPr>
            <a:r>
              <a:t>💡  Use AI to accelerate learning, not to avoid 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1B4B"/>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9144000" cy="731520"/>
          </a:xfrm>
          <a:prstGeom prst="rect">
            <a:avLst/>
          </a:prstGeom>
          <a:noFill/>
        </p:spPr>
        <p:txBody>
          <a:bodyPr wrap="square">
            <a:spAutoFit/>
          </a:bodyPr>
          <a:lstStyle/>
          <a:p>
            <a:pPr algn="l">
              <a:defRPr sz="3600" b="1">
                <a:solidFill>
                  <a:srgbClr val="FFFFFF"/>
                </a:solidFill>
                <a:latin typeface="Arial"/>
              </a:defRPr>
            </a:pPr>
            <a:r>
              <a:t>Your Next Projects</a:t>
            </a:r>
          </a:p>
        </p:txBody>
      </p:sp>
      <p:sp>
        <p:nvSpPr>
          <p:cNvPr id="3" name="Rectangle 2"/>
          <p:cNvSpPr/>
          <p:nvPr/>
        </p:nvSpPr>
        <p:spPr>
          <a:xfrm>
            <a:off x="731520" y="1188720"/>
            <a:ext cx="1828800"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10515600" cy="777240"/>
          </a:xfrm>
          <a:prstGeom prst="roundRect">
            <a:avLst/>
          </a:prstGeom>
          <a:solidFill>
            <a:srgbClr val="4C1D95">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539240"/>
            <a:ext cx="548640" cy="548640"/>
          </a:xfrm>
          <a:prstGeom prst="rect">
            <a:avLst/>
          </a:prstGeom>
          <a:noFill/>
        </p:spPr>
        <p:txBody>
          <a:bodyPr wrap="square">
            <a:spAutoFit/>
          </a:bodyPr>
          <a:lstStyle/>
          <a:p>
            <a:pPr algn="l">
              <a:defRPr sz="2400" b="0">
                <a:solidFill>
                  <a:srgbClr val="FFFFFF"/>
                </a:solidFill>
                <a:latin typeface="Arial"/>
              </a:defRPr>
            </a:pPr>
            <a:r>
              <a:t>😊</a:t>
            </a:r>
          </a:p>
        </p:txBody>
      </p:sp>
      <p:sp>
        <p:nvSpPr>
          <p:cNvPr id="6" name="TextBox 5"/>
          <p:cNvSpPr txBox="1"/>
          <p:nvPr/>
        </p:nvSpPr>
        <p:spPr>
          <a:xfrm>
            <a:off x="1463040" y="1539240"/>
            <a:ext cx="2286000" cy="548640"/>
          </a:xfrm>
          <a:prstGeom prst="rect">
            <a:avLst/>
          </a:prstGeom>
          <a:noFill/>
        </p:spPr>
        <p:txBody>
          <a:bodyPr wrap="square">
            <a:spAutoFit/>
          </a:bodyPr>
          <a:lstStyle/>
          <a:p>
            <a:pPr algn="l">
              <a:defRPr sz="2000" b="1">
                <a:solidFill>
                  <a:srgbClr val="FFFFFF"/>
                </a:solidFill>
                <a:latin typeface="Arial"/>
              </a:defRPr>
            </a:pPr>
            <a:r>
              <a:t>Mood Tracker</a:t>
            </a:r>
          </a:p>
        </p:txBody>
      </p:sp>
      <p:sp>
        <p:nvSpPr>
          <p:cNvPr id="7" name="TextBox 6"/>
          <p:cNvSpPr txBox="1"/>
          <p:nvPr/>
        </p:nvSpPr>
        <p:spPr>
          <a:xfrm>
            <a:off x="3931920" y="1564640"/>
            <a:ext cx="1645920" cy="548640"/>
          </a:xfrm>
          <a:prstGeom prst="rect">
            <a:avLst/>
          </a:prstGeom>
          <a:noFill/>
        </p:spPr>
        <p:txBody>
          <a:bodyPr wrap="square">
            <a:spAutoFit/>
          </a:bodyPr>
          <a:lstStyle/>
          <a:p>
            <a:pPr algn="l">
              <a:defRPr sz="1400" b="1">
                <a:solidFill>
                  <a:srgbClr val="FBBF24"/>
                </a:solidFill>
                <a:latin typeface="Arial"/>
              </a:defRPr>
            </a:pPr>
            <a:r>
              <a:t>Beginner</a:t>
            </a:r>
          </a:p>
        </p:txBody>
      </p:sp>
      <p:sp>
        <p:nvSpPr>
          <p:cNvPr id="8" name="TextBox 7"/>
          <p:cNvSpPr txBox="1"/>
          <p:nvPr/>
        </p:nvSpPr>
        <p:spPr>
          <a:xfrm>
            <a:off x="5760720" y="1564640"/>
            <a:ext cx="5029200" cy="548640"/>
          </a:xfrm>
          <a:prstGeom prst="rect">
            <a:avLst/>
          </a:prstGeom>
          <a:noFill/>
        </p:spPr>
        <p:txBody>
          <a:bodyPr wrap="square">
            <a:spAutoFit/>
          </a:bodyPr>
          <a:lstStyle/>
          <a:p>
            <a:pPr algn="l">
              <a:defRPr sz="1400" b="0">
                <a:solidFill>
                  <a:srgbClr val="C4B5FD"/>
                </a:solidFill>
                <a:latin typeface="Arial"/>
              </a:defRPr>
            </a:pPr>
            <a:r>
              <a:t>localStorage, CSS Grid, emoji UI</a:t>
            </a:r>
          </a:p>
        </p:txBody>
      </p:sp>
      <p:sp>
        <p:nvSpPr>
          <p:cNvPr id="9" name="Rounded Rectangle 8"/>
          <p:cNvSpPr/>
          <p:nvPr/>
        </p:nvSpPr>
        <p:spPr>
          <a:xfrm>
            <a:off x="731520" y="2423160"/>
            <a:ext cx="10515600" cy="777240"/>
          </a:xfrm>
          <a:prstGeom prst="roundRect">
            <a:avLst/>
          </a:prstGeom>
          <a:solidFill>
            <a:srgbClr val="4C1D95">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499360"/>
            <a:ext cx="548640" cy="548640"/>
          </a:xfrm>
          <a:prstGeom prst="rect">
            <a:avLst/>
          </a:prstGeom>
          <a:noFill/>
        </p:spPr>
        <p:txBody>
          <a:bodyPr wrap="square">
            <a:spAutoFit/>
          </a:bodyPr>
          <a:lstStyle/>
          <a:p>
            <a:pPr algn="l">
              <a:defRPr sz="2400" b="0">
                <a:solidFill>
                  <a:srgbClr val="FFFFFF"/>
                </a:solidFill>
                <a:latin typeface="Arial"/>
              </a:defRPr>
            </a:pPr>
            <a:r>
              <a:t>⏲️</a:t>
            </a:r>
          </a:p>
        </p:txBody>
      </p:sp>
      <p:sp>
        <p:nvSpPr>
          <p:cNvPr id="11" name="TextBox 10"/>
          <p:cNvSpPr txBox="1"/>
          <p:nvPr/>
        </p:nvSpPr>
        <p:spPr>
          <a:xfrm>
            <a:off x="1463040" y="2499360"/>
            <a:ext cx="2286000" cy="548640"/>
          </a:xfrm>
          <a:prstGeom prst="rect">
            <a:avLst/>
          </a:prstGeom>
          <a:noFill/>
        </p:spPr>
        <p:txBody>
          <a:bodyPr wrap="square">
            <a:spAutoFit/>
          </a:bodyPr>
          <a:lstStyle/>
          <a:p>
            <a:pPr algn="l">
              <a:defRPr sz="2000" b="1">
                <a:solidFill>
                  <a:srgbClr val="FFFFFF"/>
                </a:solidFill>
                <a:latin typeface="Arial"/>
              </a:defRPr>
            </a:pPr>
            <a:r>
              <a:t>Pomodoro Timer</a:t>
            </a:r>
          </a:p>
        </p:txBody>
      </p:sp>
      <p:sp>
        <p:nvSpPr>
          <p:cNvPr id="12" name="TextBox 11"/>
          <p:cNvSpPr txBox="1"/>
          <p:nvPr/>
        </p:nvSpPr>
        <p:spPr>
          <a:xfrm>
            <a:off x="3931920" y="2524760"/>
            <a:ext cx="1645920" cy="548640"/>
          </a:xfrm>
          <a:prstGeom prst="rect">
            <a:avLst/>
          </a:prstGeom>
          <a:noFill/>
        </p:spPr>
        <p:txBody>
          <a:bodyPr wrap="square">
            <a:spAutoFit/>
          </a:bodyPr>
          <a:lstStyle/>
          <a:p>
            <a:pPr algn="l">
              <a:defRPr sz="1400" b="1">
                <a:solidFill>
                  <a:srgbClr val="FBBF24"/>
                </a:solidFill>
                <a:latin typeface="Arial"/>
              </a:defRPr>
            </a:pPr>
            <a:r>
              <a:t>Beginner+</a:t>
            </a:r>
          </a:p>
        </p:txBody>
      </p:sp>
      <p:sp>
        <p:nvSpPr>
          <p:cNvPr id="13" name="TextBox 12"/>
          <p:cNvSpPr txBox="1"/>
          <p:nvPr/>
        </p:nvSpPr>
        <p:spPr>
          <a:xfrm>
            <a:off x="5760720" y="2524760"/>
            <a:ext cx="5029200" cy="548640"/>
          </a:xfrm>
          <a:prstGeom prst="rect">
            <a:avLst/>
          </a:prstGeom>
          <a:noFill/>
        </p:spPr>
        <p:txBody>
          <a:bodyPr wrap="square">
            <a:spAutoFit/>
          </a:bodyPr>
          <a:lstStyle/>
          <a:p>
            <a:pPr algn="l">
              <a:defRPr sz="1400" b="0">
                <a:solidFill>
                  <a:srgbClr val="C4B5FD"/>
                </a:solidFill>
                <a:latin typeface="Arial"/>
              </a:defRPr>
            </a:pPr>
            <a:r>
              <a:t>setInterval, Audio API, state management</a:t>
            </a:r>
          </a:p>
        </p:txBody>
      </p:sp>
      <p:sp>
        <p:nvSpPr>
          <p:cNvPr id="14" name="Rounded Rectangle 13"/>
          <p:cNvSpPr/>
          <p:nvPr/>
        </p:nvSpPr>
        <p:spPr>
          <a:xfrm>
            <a:off x="731520" y="3383280"/>
            <a:ext cx="10515600" cy="777240"/>
          </a:xfrm>
          <a:prstGeom prst="roundRect">
            <a:avLst/>
          </a:prstGeom>
          <a:solidFill>
            <a:srgbClr val="4C1D95">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459480"/>
            <a:ext cx="548640" cy="548640"/>
          </a:xfrm>
          <a:prstGeom prst="rect">
            <a:avLst/>
          </a:prstGeom>
          <a:noFill/>
        </p:spPr>
        <p:txBody>
          <a:bodyPr wrap="square">
            <a:spAutoFit/>
          </a:bodyPr>
          <a:lstStyle/>
          <a:p>
            <a:pPr algn="l">
              <a:defRPr sz="2400" b="0">
                <a:solidFill>
                  <a:srgbClr val="FFFFFF"/>
                </a:solidFill>
                <a:latin typeface="Arial"/>
              </a:defRPr>
            </a:pPr>
            <a:r>
              <a:t>🌱</a:t>
            </a:r>
          </a:p>
        </p:txBody>
      </p:sp>
      <p:sp>
        <p:nvSpPr>
          <p:cNvPr id="16" name="TextBox 15"/>
          <p:cNvSpPr txBox="1"/>
          <p:nvPr/>
        </p:nvSpPr>
        <p:spPr>
          <a:xfrm>
            <a:off x="1463040" y="3459480"/>
            <a:ext cx="2286000" cy="548640"/>
          </a:xfrm>
          <a:prstGeom prst="rect">
            <a:avLst/>
          </a:prstGeom>
          <a:noFill/>
        </p:spPr>
        <p:txBody>
          <a:bodyPr wrap="square">
            <a:spAutoFit/>
          </a:bodyPr>
          <a:lstStyle/>
          <a:p>
            <a:pPr algn="l">
              <a:defRPr sz="2000" b="1">
                <a:solidFill>
                  <a:srgbClr val="FFFFFF"/>
                </a:solidFill>
                <a:latin typeface="Arial"/>
              </a:defRPr>
            </a:pPr>
            <a:r>
              <a:t>Habit Garden</a:t>
            </a:r>
          </a:p>
        </p:txBody>
      </p:sp>
      <p:sp>
        <p:nvSpPr>
          <p:cNvPr id="17" name="TextBox 16"/>
          <p:cNvSpPr txBox="1"/>
          <p:nvPr/>
        </p:nvSpPr>
        <p:spPr>
          <a:xfrm>
            <a:off x="3931920" y="3484880"/>
            <a:ext cx="1645920" cy="548640"/>
          </a:xfrm>
          <a:prstGeom prst="rect">
            <a:avLst/>
          </a:prstGeom>
          <a:noFill/>
        </p:spPr>
        <p:txBody>
          <a:bodyPr wrap="square">
            <a:spAutoFit/>
          </a:bodyPr>
          <a:lstStyle/>
          <a:p>
            <a:pPr algn="l">
              <a:defRPr sz="1400" b="1">
                <a:solidFill>
                  <a:srgbClr val="FBBF24"/>
                </a:solidFill>
                <a:latin typeface="Arial"/>
              </a:defRPr>
            </a:pPr>
            <a:r>
              <a:t>Intermediate</a:t>
            </a:r>
          </a:p>
        </p:txBody>
      </p:sp>
      <p:sp>
        <p:nvSpPr>
          <p:cNvPr id="18" name="TextBox 17"/>
          <p:cNvSpPr txBox="1"/>
          <p:nvPr/>
        </p:nvSpPr>
        <p:spPr>
          <a:xfrm>
            <a:off x="5760720" y="3484880"/>
            <a:ext cx="5029200" cy="548640"/>
          </a:xfrm>
          <a:prstGeom prst="rect">
            <a:avLst/>
          </a:prstGeom>
          <a:noFill/>
        </p:spPr>
        <p:txBody>
          <a:bodyPr wrap="square">
            <a:spAutoFit/>
          </a:bodyPr>
          <a:lstStyle/>
          <a:p>
            <a:pPr algn="l">
              <a:defRPr sz="1400" b="0">
                <a:solidFill>
                  <a:srgbClr val="C4B5FD"/>
                </a:solidFill>
                <a:latin typeface="Arial"/>
              </a:defRPr>
            </a:pPr>
            <a:r>
              <a:t>SVG animation, date math, complex state</a:t>
            </a:r>
          </a:p>
        </p:txBody>
      </p:sp>
      <p:sp>
        <p:nvSpPr>
          <p:cNvPr id="19" name="Rounded Rectangle 18"/>
          <p:cNvSpPr/>
          <p:nvPr/>
        </p:nvSpPr>
        <p:spPr>
          <a:xfrm>
            <a:off x="731520" y="4343400"/>
            <a:ext cx="10515600" cy="777240"/>
          </a:xfrm>
          <a:prstGeom prst="roundRect">
            <a:avLst/>
          </a:prstGeom>
          <a:solidFill>
            <a:srgbClr val="4C1D95">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419600"/>
            <a:ext cx="548640" cy="548640"/>
          </a:xfrm>
          <a:prstGeom prst="rect">
            <a:avLst/>
          </a:prstGeom>
          <a:noFill/>
        </p:spPr>
        <p:txBody>
          <a:bodyPr wrap="square">
            <a:spAutoFit/>
          </a:bodyPr>
          <a:lstStyle/>
          <a:p>
            <a:pPr algn="l">
              <a:defRPr sz="2400" b="0">
                <a:solidFill>
                  <a:srgbClr val="FFFFFF"/>
                </a:solidFill>
                <a:latin typeface="Arial"/>
              </a:defRPr>
            </a:pPr>
            <a:r>
              <a:t>📍</a:t>
            </a:r>
          </a:p>
        </p:txBody>
      </p:sp>
      <p:sp>
        <p:nvSpPr>
          <p:cNvPr id="21" name="TextBox 20"/>
          <p:cNvSpPr txBox="1"/>
          <p:nvPr/>
        </p:nvSpPr>
        <p:spPr>
          <a:xfrm>
            <a:off x="1463040" y="4419600"/>
            <a:ext cx="2286000" cy="548640"/>
          </a:xfrm>
          <a:prstGeom prst="rect">
            <a:avLst/>
          </a:prstGeom>
          <a:noFill/>
        </p:spPr>
        <p:txBody>
          <a:bodyPr wrap="square">
            <a:spAutoFit/>
          </a:bodyPr>
          <a:lstStyle/>
          <a:p>
            <a:pPr algn="l">
              <a:defRPr sz="2000" b="1">
                <a:solidFill>
                  <a:srgbClr val="FFFFFF"/>
                </a:solidFill>
                <a:latin typeface="Arial"/>
              </a:defRPr>
            </a:pPr>
            <a:r>
              <a:t>Campus Event Finder</a:t>
            </a:r>
          </a:p>
        </p:txBody>
      </p:sp>
      <p:sp>
        <p:nvSpPr>
          <p:cNvPr id="22" name="TextBox 21"/>
          <p:cNvSpPr txBox="1"/>
          <p:nvPr/>
        </p:nvSpPr>
        <p:spPr>
          <a:xfrm>
            <a:off x="3931920" y="4445000"/>
            <a:ext cx="1645920" cy="548640"/>
          </a:xfrm>
          <a:prstGeom prst="rect">
            <a:avLst/>
          </a:prstGeom>
          <a:noFill/>
        </p:spPr>
        <p:txBody>
          <a:bodyPr wrap="square">
            <a:spAutoFit/>
          </a:bodyPr>
          <a:lstStyle/>
          <a:p>
            <a:pPr algn="l">
              <a:defRPr sz="1400" b="1">
                <a:solidFill>
                  <a:srgbClr val="FBBF24"/>
                </a:solidFill>
                <a:latin typeface="Arial"/>
              </a:defRPr>
            </a:pPr>
            <a:r>
              <a:t>Intermediate+</a:t>
            </a:r>
          </a:p>
        </p:txBody>
      </p:sp>
      <p:sp>
        <p:nvSpPr>
          <p:cNvPr id="23" name="TextBox 22"/>
          <p:cNvSpPr txBox="1"/>
          <p:nvPr/>
        </p:nvSpPr>
        <p:spPr>
          <a:xfrm>
            <a:off x="5760720" y="4445000"/>
            <a:ext cx="5029200" cy="548640"/>
          </a:xfrm>
          <a:prstGeom prst="rect">
            <a:avLst/>
          </a:prstGeom>
          <a:noFill/>
        </p:spPr>
        <p:txBody>
          <a:bodyPr wrap="square">
            <a:spAutoFit/>
          </a:bodyPr>
          <a:lstStyle/>
          <a:p>
            <a:pPr algn="l">
              <a:defRPr sz="1400" b="0">
                <a:solidFill>
                  <a:srgbClr val="C4B5FD"/>
                </a:solidFill>
                <a:latin typeface="Arial"/>
              </a:defRPr>
            </a:pPr>
            <a:r>
              <a:t>Multiple APIs, maps, filtering/sorting</a:t>
            </a:r>
          </a:p>
        </p:txBody>
      </p:sp>
      <p:sp>
        <p:nvSpPr>
          <p:cNvPr id="24" name="Rounded Rectangle 23"/>
          <p:cNvSpPr/>
          <p:nvPr/>
        </p:nvSpPr>
        <p:spPr>
          <a:xfrm>
            <a:off x="731520" y="5303520"/>
            <a:ext cx="10515600" cy="777240"/>
          </a:xfrm>
          <a:prstGeom prst="roundRect">
            <a:avLst/>
          </a:prstGeom>
          <a:solidFill>
            <a:srgbClr val="4C1D95">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379720"/>
            <a:ext cx="548640" cy="548640"/>
          </a:xfrm>
          <a:prstGeom prst="rect">
            <a:avLst/>
          </a:prstGeom>
          <a:noFill/>
        </p:spPr>
        <p:txBody>
          <a:bodyPr wrap="square">
            <a:spAutoFit/>
          </a:bodyPr>
          <a:lstStyle/>
          <a:p>
            <a:pPr algn="l">
              <a:defRPr sz="2400" b="0">
                <a:solidFill>
                  <a:srgbClr val="FFFFFF"/>
                </a:solidFill>
                <a:latin typeface="Arial"/>
              </a:defRPr>
            </a:pPr>
            <a:r>
              <a:t>🎵</a:t>
            </a:r>
          </a:p>
        </p:txBody>
      </p:sp>
      <p:sp>
        <p:nvSpPr>
          <p:cNvPr id="26" name="TextBox 25"/>
          <p:cNvSpPr txBox="1"/>
          <p:nvPr/>
        </p:nvSpPr>
        <p:spPr>
          <a:xfrm>
            <a:off x="1463040" y="5379720"/>
            <a:ext cx="2286000" cy="548640"/>
          </a:xfrm>
          <a:prstGeom prst="rect">
            <a:avLst/>
          </a:prstGeom>
          <a:noFill/>
        </p:spPr>
        <p:txBody>
          <a:bodyPr wrap="square">
            <a:spAutoFit/>
          </a:bodyPr>
          <a:lstStyle/>
          <a:p>
            <a:pPr algn="l">
              <a:defRPr sz="2000" b="1">
                <a:solidFill>
                  <a:srgbClr val="FFFFFF"/>
                </a:solidFill>
                <a:latin typeface="Arial"/>
              </a:defRPr>
            </a:pPr>
            <a:r>
              <a:t>Study Playlist</a:t>
            </a:r>
          </a:p>
        </p:txBody>
      </p:sp>
      <p:sp>
        <p:nvSpPr>
          <p:cNvPr id="27" name="TextBox 26"/>
          <p:cNvSpPr txBox="1"/>
          <p:nvPr/>
        </p:nvSpPr>
        <p:spPr>
          <a:xfrm>
            <a:off x="3931920" y="5405120"/>
            <a:ext cx="1645920" cy="548640"/>
          </a:xfrm>
          <a:prstGeom prst="rect">
            <a:avLst/>
          </a:prstGeom>
          <a:noFill/>
        </p:spPr>
        <p:txBody>
          <a:bodyPr wrap="square">
            <a:spAutoFit/>
          </a:bodyPr>
          <a:lstStyle/>
          <a:p>
            <a:pPr algn="l">
              <a:defRPr sz="1400" b="1">
                <a:solidFill>
                  <a:srgbClr val="FBBF24"/>
                </a:solidFill>
                <a:latin typeface="Arial"/>
              </a:defRPr>
            </a:pPr>
            <a:r>
              <a:t>Advanced</a:t>
            </a:r>
          </a:p>
        </p:txBody>
      </p:sp>
      <p:sp>
        <p:nvSpPr>
          <p:cNvPr id="28" name="TextBox 27"/>
          <p:cNvSpPr txBox="1"/>
          <p:nvPr/>
        </p:nvSpPr>
        <p:spPr>
          <a:xfrm>
            <a:off x="5760720" y="5405120"/>
            <a:ext cx="5029200" cy="548640"/>
          </a:xfrm>
          <a:prstGeom prst="rect">
            <a:avLst/>
          </a:prstGeom>
          <a:noFill/>
        </p:spPr>
        <p:txBody>
          <a:bodyPr wrap="square">
            <a:spAutoFit/>
          </a:bodyPr>
          <a:lstStyle/>
          <a:p>
            <a:pPr algn="l">
              <a:defRPr sz="1400" b="0">
                <a:solidFill>
                  <a:srgbClr val="C4B5FD"/>
                </a:solidFill>
                <a:latin typeface="Arial"/>
              </a:defRPr>
            </a:pPr>
            <a:r>
              <a:t>Backend, database, OAuth, WebSockets</a:t>
            </a:r>
          </a:p>
        </p:txBody>
      </p:sp>
      <p:sp>
        <p:nvSpPr>
          <p:cNvPr id="29" name="TextBox 28"/>
          <p:cNvSpPr txBox="1"/>
          <p:nvPr/>
        </p:nvSpPr>
        <p:spPr>
          <a:xfrm>
            <a:off x="731520" y="6217920"/>
            <a:ext cx="10515600" cy="457200"/>
          </a:xfrm>
          <a:prstGeom prst="rect">
            <a:avLst/>
          </a:prstGeom>
          <a:noFill/>
        </p:spPr>
        <p:txBody>
          <a:bodyPr wrap="square">
            <a:spAutoFit/>
          </a:bodyPr>
          <a:lstStyle/>
          <a:p>
            <a:pPr algn="ctr">
              <a:defRPr sz="1500" b="0">
                <a:solidFill>
                  <a:srgbClr val="C4B5FD"/>
                </a:solidFill>
                <a:latin typeface="Arial"/>
              </a:defRPr>
            </a:pPr>
            <a:r>
              <a:t>Each project builds on skills from the last  —  start where you feel challenged but not overwhelmed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1B4B"/>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9144000" cy="731520"/>
          </a:xfrm>
          <a:prstGeom prst="rect">
            <a:avLst/>
          </a:prstGeom>
          <a:noFill/>
        </p:spPr>
        <p:txBody>
          <a:bodyPr wrap="square">
            <a:spAutoFit/>
          </a:bodyPr>
          <a:lstStyle/>
          <a:p>
            <a:pPr algn="l">
              <a:defRPr sz="3600" b="1">
                <a:solidFill>
                  <a:srgbClr val="FFFFFF"/>
                </a:solidFill>
                <a:latin typeface="Arial"/>
              </a:defRPr>
            </a:pPr>
            <a:r>
              <a:t>Resources</a:t>
            </a:r>
          </a:p>
        </p:txBody>
      </p:sp>
      <p:sp>
        <p:nvSpPr>
          <p:cNvPr id="3" name="Rectangle 2"/>
          <p:cNvSpPr/>
          <p:nvPr/>
        </p:nvSpPr>
        <p:spPr>
          <a:xfrm>
            <a:off x="731520" y="1188720"/>
            <a:ext cx="1828800"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10515600" cy="594360"/>
          </a:xfrm>
          <a:prstGeom prst="roundRect">
            <a:avLst/>
          </a:prstGeom>
          <a:solidFill>
            <a:srgbClr val="4C1D95">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513840"/>
            <a:ext cx="457200" cy="457200"/>
          </a:xfrm>
          <a:prstGeom prst="rect">
            <a:avLst/>
          </a:prstGeom>
          <a:noFill/>
        </p:spPr>
        <p:txBody>
          <a:bodyPr wrap="square">
            <a:spAutoFit/>
          </a:bodyPr>
          <a:lstStyle/>
          <a:p>
            <a:pPr algn="l">
              <a:defRPr sz="2000" b="0">
                <a:solidFill>
                  <a:srgbClr val="FFFFFF"/>
                </a:solidFill>
                <a:latin typeface="Arial"/>
              </a:defRPr>
            </a:pPr>
            <a:r>
              <a:t>📖</a:t>
            </a:r>
          </a:p>
        </p:txBody>
      </p:sp>
      <p:sp>
        <p:nvSpPr>
          <p:cNvPr id="6" name="TextBox 5"/>
          <p:cNvSpPr txBox="1"/>
          <p:nvPr/>
        </p:nvSpPr>
        <p:spPr>
          <a:xfrm>
            <a:off x="1371600" y="1513840"/>
            <a:ext cx="2286000" cy="457200"/>
          </a:xfrm>
          <a:prstGeom prst="rect">
            <a:avLst/>
          </a:prstGeom>
          <a:noFill/>
        </p:spPr>
        <p:txBody>
          <a:bodyPr wrap="square">
            <a:spAutoFit/>
          </a:bodyPr>
          <a:lstStyle/>
          <a:p>
            <a:pPr algn="l">
              <a:defRPr sz="1700" b="1">
                <a:solidFill>
                  <a:srgbClr val="FFFFFF"/>
                </a:solidFill>
                <a:latin typeface="Arial"/>
              </a:defRPr>
            </a:pPr>
            <a:r>
              <a:t>MDN Web Docs</a:t>
            </a:r>
          </a:p>
        </p:txBody>
      </p:sp>
      <p:sp>
        <p:nvSpPr>
          <p:cNvPr id="7" name="TextBox 6"/>
          <p:cNvSpPr txBox="1"/>
          <p:nvPr/>
        </p:nvSpPr>
        <p:spPr>
          <a:xfrm>
            <a:off x="3840480" y="1526540"/>
            <a:ext cx="2743200" cy="457200"/>
          </a:xfrm>
          <a:prstGeom prst="rect">
            <a:avLst/>
          </a:prstGeom>
          <a:noFill/>
        </p:spPr>
        <p:txBody>
          <a:bodyPr wrap="square">
            <a:spAutoFit/>
          </a:bodyPr>
          <a:lstStyle/>
          <a:p>
            <a:pPr algn="l">
              <a:defRPr sz="1300" b="0">
                <a:solidFill>
                  <a:srgbClr val="7C3AED"/>
                </a:solidFill>
                <a:latin typeface="Arial"/>
              </a:defRPr>
            </a:pPr>
            <a:r>
              <a:t>developer.mozilla.org</a:t>
            </a:r>
          </a:p>
        </p:txBody>
      </p:sp>
      <p:sp>
        <p:nvSpPr>
          <p:cNvPr id="8" name="TextBox 7"/>
          <p:cNvSpPr txBox="1"/>
          <p:nvPr/>
        </p:nvSpPr>
        <p:spPr>
          <a:xfrm>
            <a:off x="7132320" y="1526540"/>
            <a:ext cx="3840480" cy="457200"/>
          </a:xfrm>
          <a:prstGeom prst="rect">
            <a:avLst/>
          </a:prstGeom>
          <a:noFill/>
        </p:spPr>
        <p:txBody>
          <a:bodyPr wrap="square">
            <a:spAutoFit/>
          </a:bodyPr>
          <a:lstStyle/>
          <a:p>
            <a:pPr algn="l">
              <a:defRPr sz="1300" b="0">
                <a:solidFill>
                  <a:srgbClr val="C4B5FD"/>
                </a:solidFill>
                <a:latin typeface="Arial"/>
              </a:defRPr>
            </a:pPr>
            <a:r>
              <a:t>The definitive HTML/CSS/JS reference</a:t>
            </a:r>
          </a:p>
        </p:txBody>
      </p:sp>
      <p:sp>
        <p:nvSpPr>
          <p:cNvPr id="9" name="Rounded Rectangle 8"/>
          <p:cNvSpPr/>
          <p:nvPr/>
        </p:nvSpPr>
        <p:spPr>
          <a:xfrm>
            <a:off x="731520" y="2176272"/>
            <a:ext cx="10515600" cy="59436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227072"/>
            <a:ext cx="457200" cy="457200"/>
          </a:xfrm>
          <a:prstGeom prst="rect">
            <a:avLst/>
          </a:prstGeom>
          <a:noFill/>
        </p:spPr>
        <p:txBody>
          <a:bodyPr wrap="square">
            <a:spAutoFit/>
          </a:bodyPr>
          <a:lstStyle/>
          <a:p>
            <a:pPr algn="l">
              <a:defRPr sz="2000" b="0">
                <a:solidFill>
                  <a:srgbClr val="FFFFFF"/>
                </a:solidFill>
                <a:latin typeface="Arial"/>
              </a:defRPr>
            </a:pPr>
            <a:r>
              <a:t>🎨</a:t>
            </a:r>
          </a:p>
        </p:txBody>
      </p:sp>
      <p:sp>
        <p:nvSpPr>
          <p:cNvPr id="11" name="TextBox 10"/>
          <p:cNvSpPr txBox="1"/>
          <p:nvPr/>
        </p:nvSpPr>
        <p:spPr>
          <a:xfrm>
            <a:off x="1371600" y="2227072"/>
            <a:ext cx="2286000" cy="457200"/>
          </a:xfrm>
          <a:prstGeom prst="rect">
            <a:avLst/>
          </a:prstGeom>
          <a:noFill/>
        </p:spPr>
        <p:txBody>
          <a:bodyPr wrap="square">
            <a:spAutoFit/>
          </a:bodyPr>
          <a:lstStyle/>
          <a:p>
            <a:pPr algn="l">
              <a:defRPr sz="1700" b="1">
                <a:solidFill>
                  <a:srgbClr val="FFFFFF"/>
                </a:solidFill>
                <a:latin typeface="Arial"/>
              </a:defRPr>
            </a:pPr>
            <a:r>
              <a:t>CSS-Tricks</a:t>
            </a:r>
          </a:p>
        </p:txBody>
      </p:sp>
      <p:sp>
        <p:nvSpPr>
          <p:cNvPr id="12" name="TextBox 11"/>
          <p:cNvSpPr txBox="1"/>
          <p:nvPr/>
        </p:nvSpPr>
        <p:spPr>
          <a:xfrm>
            <a:off x="3840480" y="2239772"/>
            <a:ext cx="2743200" cy="457200"/>
          </a:xfrm>
          <a:prstGeom prst="rect">
            <a:avLst/>
          </a:prstGeom>
          <a:noFill/>
        </p:spPr>
        <p:txBody>
          <a:bodyPr wrap="square">
            <a:spAutoFit/>
          </a:bodyPr>
          <a:lstStyle/>
          <a:p>
            <a:pPr algn="l">
              <a:defRPr sz="1300" b="0">
                <a:solidFill>
                  <a:srgbClr val="7C3AED"/>
                </a:solidFill>
                <a:latin typeface="Arial"/>
              </a:defRPr>
            </a:pPr>
            <a:r>
              <a:t>css-tricks.com</a:t>
            </a:r>
          </a:p>
        </p:txBody>
      </p:sp>
      <p:sp>
        <p:nvSpPr>
          <p:cNvPr id="13" name="TextBox 12"/>
          <p:cNvSpPr txBox="1"/>
          <p:nvPr/>
        </p:nvSpPr>
        <p:spPr>
          <a:xfrm>
            <a:off x="7132320" y="2239772"/>
            <a:ext cx="3840480" cy="457200"/>
          </a:xfrm>
          <a:prstGeom prst="rect">
            <a:avLst/>
          </a:prstGeom>
          <a:noFill/>
        </p:spPr>
        <p:txBody>
          <a:bodyPr wrap="square">
            <a:spAutoFit/>
          </a:bodyPr>
          <a:lstStyle/>
          <a:p>
            <a:pPr algn="l">
              <a:defRPr sz="1300" b="0">
                <a:solidFill>
                  <a:srgbClr val="C4B5FD"/>
                </a:solidFill>
                <a:latin typeface="Arial"/>
              </a:defRPr>
            </a:pPr>
            <a:r>
              <a:t>Visual guides to Flexbox, Grid &amp; more</a:t>
            </a:r>
          </a:p>
        </p:txBody>
      </p:sp>
      <p:sp>
        <p:nvSpPr>
          <p:cNvPr id="14" name="Rounded Rectangle 13"/>
          <p:cNvSpPr/>
          <p:nvPr/>
        </p:nvSpPr>
        <p:spPr>
          <a:xfrm>
            <a:off x="731520" y="2889504"/>
            <a:ext cx="10515600" cy="594360"/>
          </a:xfrm>
          <a:prstGeom prst="roundRect">
            <a:avLst/>
          </a:prstGeom>
          <a:solidFill>
            <a:srgbClr val="4C1D95">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2940304"/>
            <a:ext cx="457200" cy="457200"/>
          </a:xfrm>
          <a:prstGeom prst="rect">
            <a:avLst/>
          </a:prstGeom>
          <a:noFill/>
        </p:spPr>
        <p:txBody>
          <a:bodyPr wrap="square">
            <a:spAutoFit/>
          </a:bodyPr>
          <a:lstStyle/>
          <a:p>
            <a:pPr algn="l">
              <a:defRPr sz="2000" b="0">
                <a:solidFill>
                  <a:srgbClr val="FFFFFF"/>
                </a:solidFill>
                <a:latin typeface="Arial"/>
              </a:defRPr>
            </a:pPr>
            <a:r>
              <a:t>🏫</a:t>
            </a:r>
          </a:p>
        </p:txBody>
      </p:sp>
      <p:sp>
        <p:nvSpPr>
          <p:cNvPr id="16" name="TextBox 15"/>
          <p:cNvSpPr txBox="1"/>
          <p:nvPr/>
        </p:nvSpPr>
        <p:spPr>
          <a:xfrm>
            <a:off x="1371600" y="2940304"/>
            <a:ext cx="2286000" cy="457200"/>
          </a:xfrm>
          <a:prstGeom prst="rect">
            <a:avLst/>
          </a:prstGeom>
          <a:noFill/>
        </p:spPr>
        <p:txBody>
          <a:bodyPr wrap="square">
            <a:spAutoFit/>
          </a:bodyPr>
          <a:lstStyle/>
          <a:p>
            <a:pPr algn="l">
              <a:defRPr sz="1700" b="1">
                <a:solidFill>
                  <a:srgbClr val="FFFFFF"/>
                </a:solidFill>
                <a:latin typeface="Arial"/>
              </a:defRPr>
            </a:pPr>
            <a:r>
              <a:t>freeCodeCamp</a:t>
            </a:r>
          </a:p>
        </p:txBody>
      </p:sp>
      <p:sp>
        <p:nvSpPr>
          <p:cNvPr id="17" name="TextBox 16"/>
          <p:cNvSpPr txBox="1"/>
          <p:nvPr/>
        </p:nvSpPr>
        <p:spPr>
          <a:xfrm>
            <a:off x="3840480" y="2953004"/>
            <a:ext cx="2743200" cy="457200"/>
          </a:xfrm>
          <a:prstGeom prst="rect">
            <a:avLst/>
          </a:prstGeom>
          <a:noFill/>
        </p:spPr>
        <p:txBody>
          <a:bodyPr wrap="square">
            <a:spAutoFit/>
          </a:bodyPr>
          <a:lstStyle/>
          <a:p>
            <a:pPr algn="l">
              <a:defRPr sz="1300" b="0">
                <a:solidFill>
                  <a:srgbClr val="7C3AED"/>
                </a:solidFill>
                <a:latin typeface="Arial"/>
              </a:defRPr>
            </a:pPr>
            <a:r>
              <a:t>freecodecamp.org</a:t>
            </a:r>
          </a:p>
        </p:txBody>
      </p:sp>
      <p:sp>
        <p:nvSpPr>
          <p:cNvPr id="18" name="TextBox 17"/>
          <p:cNvSpPr txBox="1"/>
          <p:nvPr/>
        </p:nvSpPr>
        <p:spPr>
          <a:xfrm>
            <a:off x="7132320" y="2953004"/>
            <a:ext cx="3840480" cy="457200"/>
          </a:xfrm>
          <a:prstGeom prst="rect">
            <a:avLst/>
          </a:prstGeom>
          <a:noFill/>
        </p:spPr>
        <p:txBody>
          <a:bodyPr wrap="square">
            <a:spAutoFit/>
          </a:bodyPr>
          <a:lstStyle/>
          <a:p>
            <a:pPr algn="l">
              <a:defRPr sz="1300" b="0">
                <a:solidFill>
                  <a:srgbClr val="C4B5FD"/>
                </a:solidFill>
                <a:latin typeface="Arial"/>
              </a:defRPr>
            </a:pPr>
            <a:r>
              <a:t>Free interactive coding curriculum</a:t>
            </a:r>
          </a:p>
        </p:txBody>
      </p:sp>
      <p:sp>
        <p:nvSpPr>
          <p:cNvPr id="19" name="Rounded Rectangle 18"/>
          <p:cNvSpPr/>
          <p:nvPr/>
        </p:nvSpPr>
        <p:spPr>
          <a:xfrm>
            <a:off x="731520" y="3602736"/>
            <a:ext cx="10515600" cy="59436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3653536"/>
            <a:ext cx="457200" cy="457200"/>
          </a:xfrm>
          <a:prstGeom prst="rect">
            <a:avLst/>
          </a:prstGeom>
          <a:noFill/>
        </p:spPr>
        <p:txBody>
          <a:bodyPr wrap="square">
            <a:spAutoFit/>
          </a:bodyPr>
          <a:lstStyle/>
          <a:p>
            <a:pPr algn="l">
              <a:defRPr sz="2000" b="0">
                <a:solidFill>
                  <a:srgbClr val="FFFFFF"/>
                </a:solidFill>
                <a:latin typeface="Arial"/>
              </a:defRPr>
            </a:pPr>
            <a:r>
              <a:t>💻</a:t>
            </a:r>
          </a:p>
        </p:txBody>
      </p:sp>
      <p:sp>
        <p:nvSpPr>
          <p:cNvPr id="21" name="TextBox 20"/>
          <p:cNvSpPr txBox="1"/>
          <p:nvPr/>
        </p:nvSpPr>
        <p:spPr>
          <a:xfrm>
            <a:off x="1371600" y="3653536"/>
            <a:ext cx="2286000" cy="457200"/>
          </a:xfrm>
          <a:prstGeom prst="rect">
            <a:avLst/>
          </a:prstGeom>
          <a:noFill/>
        </p:spPr>
        <p:txBody>
          <a:bodyPr wrap="square">
            <a:spAutoFit/>
          </a:bodyPr>
          <a:lstStyle/>
          <a:p>
            <a:pPr algn="l">
              <a:defRPr sz="1700" b="1">
                <a:solidFill>
                  <a:srgbClr val="FFFFFF"/>
                </a:solidFill>
                <a:latin typeface="Arial"/>
              </a:defRPr>
            </a:pPr>
            <a:r>
              <a:t>JavaScript.info</a:t>
            </a:r>
          </a:p>
        </p:txBody>
      </p:sp>
      <p:sp>
        <p:nvSpPr>
          <p:cNvPr id="22" name="TextBox 21"/>
          <p:cNvSpPr txBox="1"/>
          <p:nvPr/>
        </p:nvSpPr>
        <p:spPr>
          <a:xfrm>
            <a:off x="3840480" y="3666236"/>
            <a:ext cx="2743200" cy="457200"/>
          </a:xfrm>
          <a:prstGeom prst="rect">
            <a:avLst/>
          </a:prstGeom>
          <a:noFill/>
        </p:spPr>
        <p:txBody>
          <a:bodyPr wrap="square">
            <a:spAutoFit/>
          </a:bodyPr>
          <a:lstStyle/>
          <a:p>
            <a:pPr algn="l">
              <a:defRPr sz="1300" b="0">
                <a:solidFill>
                  <a:srgbClr val="7C3AED"/>
                </a:solidFill>
                <a:latin typeface="Arial"/>
              </a:defRPr>
            </a:pPr>
            <a:r>
              <a:t>javascript.info</a:t>
            </a:r>
          </a:p>
        </p:txBody>
      </p:sp>
      <p:sp>
        <p:nvSpPr>
          <p:cNvPr id="23" name="TextBox 22"/>
          <p:cNvSpPr txBox="1"/>
          <p:nvPr/>
        </p:nvSpPr>
        <p:spPr>
          <a:xfrm>
            <a:off x="7132320" y="3666236"/>
            <a:ext cx="3840480" cy="457200"/>
          </a:xfrm>
          <a:prstGeom prst="rect">
            <a:avLst/>
          </a:prstGeom>
          <a:noFill/>
        </p:spPr>
        <p:txBody>
          <a:bodyPr wrap="square">
            <a:spAutoFit/>
          </a:bodyPr>
          <a:lstStyle/>
          <a:p>
            <a:pPr algn="l">
              <a:defRPr sz="1300" b="0">
                <a:solidFill>
                  <a:srgbClr val="C4B5FD"/>
                </a:solidFill>
                <a:latin typeface="Arial"/>
              </a:defRPr>
            </a:pPr>
            <a:r>
              <a:t>Modern JS tutorial, deep dives</a:t>
            </a:r>
          </a:p>
        </p:txBody>
      </p:sp>
      <p:sp>
        <p:nvSpPr>
          <p:cNvPr id="24" name="Rounded Rectangle 23"/>
          <p:cNvSpPr/>
          <p:nvPr/>
        </p:nvSpPr>
        <p:spPr>
          <a:xfrm>
            <a:off x="731520" y="4315968"/>
            <a:ext cx="10515600" cy="594360"/>
          </a:xfrm>
          <a:prstGeom prst="roundRect">
            <a:avLst/>
          </a:prstGeom>
          <a:solidFill>
            <a:srgbClr val="4C1D95">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4366768"/>
            <a:ext cx="457200" cy="457200"/>
          </a:xfrm>
          <a:prstGeom prst="rect">
            <a:avLst/>
          </a:prstGeom>
          <a:noFill/>
        </p:spPr>
        <p:txBody>
          <a:bodyPr wrap="square">
            <a:spAutoFit/>
          </a:bodyPr>
          <a:lstStyle/>
          <a:p>
            <a:pPr algn="l">
              <a:defRPr sz="2000" b="0">
                <a:solidFill>
                  <a:srgbClr val="FFFFFF"/>
                </a:solidFill>
                <a:latin typeface="Arial"/>
              </a:defRPr>
            </a:pPr>
            <a:r>
              <a:t>☀️</a:t>
            </a:r>
          </a:p>
        </p:txBody>
      </p:sp>
      <p:sp>
        <p:nvSpPr>
          <p:cNvPr id="26" name="TextBox 25"/>
          <p:cNvSpPr txBox="1"/>
          <p:nvPr/>
        </p:nvSpPr>
        <p:spPr>
          <a:xfrm>
            <a:off x="1371600" y="4366768"/>
            <a:ext cx="2286000" cy="457200"/>
          </a:xfrm>
          <a:prstGeom prst="rect">
            <a:avLst/>
          </a:prstGeom>
          <a:noFill/>
        </p:spPr>
        <p:txBody>
          <a:bodyPr wrap="square">
            <a:spAutoFit/>
          </a:bodyPr>
          <a:lstStyle/>
          <a:p>
            <a:pPr algn="l">
              <a:defRPr sz="1700" b="1">
                <a:solidFill>
                  <a:srgbClr val="FFFFFF"/>
                </a:solidFill>
                <a:latin typeface="Arial"/>
              </a:defRPr>
            </a:pPr>
            <a:r>
              <a:t>Open-Meteo</a:t>
            </a:r>
          </a:p>
        </p:txBody>
      </p:sp>
      <p:sp>
        <p:nvSpPr>
          <p:cNvPr id="27" name="TextBox 26"/>
          <p:cNvSpPr txBox="1"/>
          <p:nvPr/>
        </p:nvSpPr>
        <p:spPr>
          <a:xfrm>
            <a:off x="3840480" y="4379468"/>
            <a:ext cx="2743200" cy="457200"/>
          </a:xfrm>
          <a:prstGeom prst="rect">
            <a:avLst/>
          </a:prstGeom>
          <a:noFill/>
        </p:spPr>
        <p:txBody>
          <a:bodyPr wrap="square">
            <a:spAutoFit/>
          </a:bodyPr>
          <a:lstStyle/>
          <a:p>
            <a:pPr algn="l">
              <a:defRPr sz="1300" b="0">
                <a:solidFill>
                  <a:srgbClr val="7C3AED"/>
                </a:solidFill>
                <a:latin typeface="Arial"/>
              </a:defRPr>
            </a:pPr>
            <a:r>
              <a:t>open-meteo.com/en/docs</a:t>
            </a:r>
          </a:p>
        </p:txBody>
      </p:sp>
      <p:sp>
        <p:nvSpPr>
          <p:cNvPr id="28" name="TextBox 27"/>
          <p:cNvSpPr txBox="1"/>
          <p:nvPr/>
        </p:nvSpPr>
        <p:spPr>
          <a:xfrm>
            <a:off x="7132320" y="4379468"/>
            <a:ext cx="3840480" cy="457200"/>
          </a:xfrm>
          <a:prstGeom prst="rect">
            <a:avLst/>
          </a:prstGeom>
          <a:noFill/>
        </p:spPr>
        <p:txBody>
          <a:bodyPr wrap="square">
            <a:spAutoFit/>
          </a:bodyPr>
          <a:lstStyle/>
          <a:p>
            <a:pPr algn="l">
              <a:defRPr sz="1300" b="0">
                <a:solidFill>
                  <a:srgbClr val="C4B5FD"/>
                </a:solidFill>
                <a:latin typeface="Arial"/>
              </a:defRPr>
            </a:pPr>
            <a:r>
              <a:t>Free weather API documentation</a:t>
            </a:r>
          </a:p>
        </p:txBody>
      </p:sp>
      <p:sp>
        <p:nvSpPr>
          <p:cNvPr id="29" name="Rounded Rectangle 28"/>
          <p:cNvSpPr/>
          <p:nvPr/>
        </p:nvSpPr>
        <p:spPr>
          <a:xfrm>
            <a:off x="731520" y="5029200"/>
            <a:ext cx="10515600" cy="594360"/>
          </a:xfrm>
          <a:prstGeom prst="roundRect">
            <a:avLst/>
          </a:prstGeom>
          <a:solidFill>
            <a:srgbClr val="4C1D95">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4400" y="5080000"/>
            <a:ext cx="457200" cy="457200"/>
          </a:xfrm>
          <a:prstGeom prst="rect">
            <a:avLst/>
          </a:prstGeom>
          <a:noFill/>
        </p:spPr>
        <p:txBody>
          <a:bodyPr wrap="square">
            <a:spAutoFit/>
          </a:bodyPr>
          <a:lstStyle/>
          <a:p>
            <a:pPr algn="l">
              <a:defRPr sz="2000" b="0">
                <a:solidFill>
                  <a:srgbClr val="FFFFFF"/>
                </a:solidFill>
                <a:latin typeface="Arial"/>
              </a:defRPr>
            </a:pPr>
            <a:r>
              <a:t>🤖</a:t>
            </a:r>
          </a:p>
        </p:txBody>
      </p:sp>
      <p:sp>
        <p:nvSpPr>
          <p:cNvPr id="31" name="TextBox 30"/>
          <p:cNvSpPr txBox="1"/>
          <p:nvPr/>
        </p:nvSpPr>
        <p:spPr>
          <a:xfrm>
            <a:off x="1371600" y="5080000"/>
            <a:ext cx="2286000" cy="457200"/>
          </a:xfrm>
          <a:prstGeom prst="rect">
            <a:avLst/>
          </a:prstGeom>
          <a:noFill/>
        </p:spPr>
        <p:txBody>
          <a:bodyPr wrap="square">
            <a:spAutoFit/>
          </a:bodyPr>
          <a:lstStyle/>
          <a:p>
            <a:pPr algn="l">
              <a:defRPr sz="1700" b="1">
                <a:solidFill>
                  <a:srgbClr val="FFFFFF"/>
                </a:solidFill>
                <a:latin typeface="Arial"/>
              </a:defRPr>
            </a:pPr>
            <a:r>
              <a:t>Claude Code</a:t>
            </a:r>
          </a:p>
        </p:txBody>
      </p:sp>
      <p:sp>
        <p:nvSpPr>
          <p:cNvPr id="32" name="TextBox 31"/>
          <p:cNvSpPr txBox="1"/>
          <p:nvPr/>
        </p:nvSpPr>
        <p:spPr>
          <a:xfrm>
            <a:off x="3840480" y="5092700"/>
            <a:ext cx="2743200" cy="457200"/>
          </a:xfrm>
          <a:prstGeom prst="rect">
            <a:avLst/>
          </a:prstGeom>
          <a:noFill/>
        </p:spPr>
        <p:txBody>
          <a:bodyPr wrap="square">
            <a:spAutoFit/>
          </a:bodyPr>
          <a:lstStyle/>
          <a:p>
            <a:pPr algn="l">
              <a:defRPr sz="1300" b="0">
                <a:solidFill>
                  <a:srgbClr val="7C3AED"/>
                </a:solidFill>
                <a:latin typeface="Arial"/>
              </a:defRPr>
            </a:pPr>
            <a:r>
              <a:t>docs.anthropic.com</a:t>
            </a:r>
          </a:p>
        </p:txBody>
      </p:sp>
      <p:sp>
        <p:nvSpPr>
          <p:cNvPr id="33" name="TextBox 32"/>
          <p:cNvSpPr txBox="1"/>
          <p:nvPr/>
        </p:nvSpPr>
        <p:spPr>
          <a:xfrm>
            <a:off x="7132320" y="5092700"/>
            <a:ext cx="3840480" cy="457200"/>
          </a:xfrm>
          <a:prstGeom prst="rect">
            <a:avLst/>
          </a:prstGeom>
          <a:noFill/>
        </p:spPr>
        <p:txBody>
          <a:bodyPr wrap="square">
            <a:spAutoFit/>
          </a:bodyPr>
          <a:lstStyle/>
          <a:p>
            <a:pPr algn="l">
              <a:defRPr sz="1300" b="0">
                <a:solidFill>
                  <a:srgbClr val="C4B5FD"/>
                </a:solidFill>
                <a:latin typeface="Arial"/>
              </a:defRPr>
            </a:pPr>
            <a:r>
              <a:t>AI-assisted development tool</a:t>
            </a:r>
          </a:p>
        </p:txBody>
      </p:sp>
      <p:sp>
        <p:nvSpPr>
          <p:cNvPr id="34" name="Rounded Rectangle 33"/>
          <p:cNvSpPr/>
          <p:nvPr/>
        </p:nvSpPr>
        <p:spPr>
          <a:xfrm>
            <a:off x="731520" y="5742432"/>
            <a:ext cx="10515600" cy="594360"/>
          </a:xfrm>
          <a:prstGeom prst="roundRect">
            <a:avLst/>
          </a:prstGeom>
          <a:solidFill>
            <a:srgbClr val="4C1D95">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14400" y="5793232"/>
            <a:ext cx="457200" cy="457200"/>
          </a:xfrm>
          <a:prstGeom prst="rect">
            <a:avLst/>
          </a:prstGeom>
          <a:noFill/>
        </p:spPr>
        <p:txBody>
          <a:bodyPr wrap="square">
            <a:spAutoFit/>
          </a:bodyPr>
          <a:lstStyle/>
          <a:p>
            <a:pPr algn="l">
              <a:defRPr sz="2000" b="0">
                <a:solidFill>
                  <a:srgbClr val="FFFFFF"/>
                </a:solidFill>
                <a:latin typeface="Arial"/>
              </a:defRPr>
            </a:pPr>
            <a:r>
              <a:t>🌐</a:t>
            </a:r>
          </a:p>
        </p:txBody>
      </p:sp>
      <p:sp>
        <p:nvSpPr>
          <p:cNvPr id="36" name="TextBox 35"/>
          <p:cNvSpPr txBox="1"/>
          <p:nvPr/>
        </p:nvSpPr>
        <p:spPr>
          <a:xfrm>
            <a:off x="1371600" y="5793232"/>
            <a:ext cx="2286000" cy="457200"/>
          </a:xfrm>
          <a:prstGeom prst="rect">
            <a:avLst/>
          </a:prstGeom>
          <a:noFill/>
        </p:spPr>
        <p:txBody>
          <a:bodyPr wrap="square">
            <a:spAutoFit/>
          </a:bodyPr>
          <a:lstStyle/>
          <a:p>
            <a:pPr algn="l">
              <a:defRPr sz="1700" b="1">
                <a:solidFill>
                  <a:srgbClr val="FFFFFF"/>
                </a:solidFill>
                <a:latin typeface="Arial"/>
              </a:defRPr>
            </a:pPr>
            <a:r>
              <a:t>The Odin Project</a:t>
            </a:r>
          </a:p>
        </p:txBody>
      </p:sp>
      <p:sp>
        <p:nvSpPr>
          <p:cNvPr id="37" name="TextBox 36"/>
          <p:cNvSpPr txBox="1"/>
          <p:nvPr/>
        </p:nvSpPr>
        <p:spPr>
          <a:xfrm>
            <a:off x="3840480" y="5805932"/>
            <a:ext cx="2743200" cy="457200"/>
          </a:xfrm>
          <a:prstGeom prst="rect">
            <a:avLst/>
          </a:prstGeom>
          <a:noFill/>
        </p:spPr>
        <p:txBody>
          <a:bodyPr wrap="square">
            <a:spAutoFit/>
          </a:bodyPr>
          <a:lstStyle/>
          <a:p>
            <a:pPr algn="l">
              <a:defRPr sz="1300" b="0">
                <a:solidFill>
                  <a:srgbClr val="7C3AED"/>
                </a:solidFill>
                <a:latin typeface="Arial"/>
              </a:defRPr>
            </a:pPr>
            <a:r>
              <a:t>theodinproject.com</a:t>
            </a:r>
          </a:p>
        </p:txBody>
      </p:sp>
      <p:sp>
        <p:nvSpPr>
          <p:cNvPr id="38" name="TextBox 37"/>
          <p:cNvSpPr txBox="1"/>
          <p:nvPr/>
        </p:nvSpPr>
        <p:spPr>
          <a:xfrm>
            <a:off x="7132320" y="5805932"/>
            <a:ext cx="3840480" cy="457200"/>
          </a:xfrm>
          <a:prstGeom prst="rect">
            <a:avLst/>
          </a:prstGeom>
          <a:noFill/>
        </p:spPr>
        <p:txBody>
          <a:bodyPr wrap="square">
            <a:spAutoFit/>
          </a:bodyPr>
          <a:lstStyle/>
          <a:p>
            <a:pPr algn="l">
              <a:defRPr sz="1300" b="0">
                <a:solidFill>
                  <a:srgbClr val="C4B5FD"/>
                </a:solidFill>
                <a:latin typeface="Arial"/>
              </a:defRPr>
            </a:pPr>
            <a:r>
              <a:t>Full-stack web dev curriculum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1B4B"/>
        </a:solidFill>
        <a:effectLst/>
      </p:bgPr>
    </p:bg>
    <p:spTree>
      <p:nvGrpSpPr>
        <p:cNvPr id="1" name=""/>
        <p:cNvGrpSpPr/>
        <p:nvPr/>
      </p:nvGrpSpPr>
      <p:grpSpPr>
        <a:xfrm>
          <a:off x="0" y="0"/>
          <a:ext cx="0" cy="0"/>
          <a:chOff x="0" y="0"/>
          <a:chExt cx="0" cy="0"/>
        </a:xfrm>
      </p:grpSpPr>
      <p:sp>
        <p:nvSpPr>
          <p:cNvPr id="2" name="Oval 1"/>
          <p:cNvSpPr/>
          <p:nvPr/>
        </p:nvSpPr>
        <p:spPr>
          <a:xfrm>
            <a:off x="31533" y="3200400"/>
            <a:ext cx="3657600" cy="3657600"/>
          </a:xfrm>
          <a:prstGeom prst="ellipse">
            <a:avLst/>
          </a:prstGeom>
          <a:solidFill>
            <a:srgbClr val="4C1D95">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686800" y="457200"/>
            <a:ext cx="3200400" cy="3200400"/>
          </a:xfrm>
          <a:prstGeom prst="ellipse">
            <a:avLst/>
          </a:prstGeom>
          <a:solidFill>
            <a:srgbClr val="4C1D95">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5029200" y="4572000"/>
            <a:ext cx="2286000" cy="2286000"/>
          </a:xfrm>
          <a:prstGeom prst="ellipse">
            <a:avLst/>
          </a:prstGeom>
          <a:solidFill>
            <a:srgbClr val="7C3AED">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1371600"/>
            <a:ext cx="9448495" cy="914400"/>
          </a:xfrm>
          <a:prstGeom prst="rect">
            <a:avLst/>
          </a:prstGeom>
          <a:noFill/>
        </p:spPr>
        <p:txBody>
          <a:bodyPr wrap="square">
            <a:spAutoFit/>
          </a:bodyPr>
          <a:lstStyle/>
          <a:p>
            <a:pPr algn="ctr">
              <a:defRPr sz="6400" b="0">
                <a:solidFill>
                  <a:srgbClr val="FFFFFF"/>
                </a:solidFill>
                <a:latin typeface="Arial"/>
              </a:defRPr>
            </a:pPr>
            <a:r>
              <a:t>🐼</a:t>
            </a:r>
          </a:p>
        </p:txBody>
      </p:sp>
      <p:sp>
        <p:nvSpPr>
          <p:cNvPr id="6" name="TextBox 5"/>
          <p:cNvSpPr txBox="1"/>
          <p:nvPr/>
        </p:nvSpPr>
        <p:spPr>
          <a:xfrm>
            <a:off x="1371600" y="2560320"/>
            <a:ext cx="9448495" cy="914400"/>
          </a:xfrm>
          <a:prstGeom prst="rect">
            <a:avLst/>
          </a:prstGeom>
          <a:noFill/>
        </p:spPr>
        <p:txBody>
          <a:bodyPr wrap="square">
            <a:spAutoFit/>
          </a:bodyPr>
          <a:lstStyle/>
          <a:p>
            <a:pPr algn="ctr">
              <a:defRPr sz="3600" b="1">
                <a:solidFill>
                  <a:srgbClr val="FFFFFF"/>
                </a:solidFill>
                <a:latin typeface="Arial"/>
              </a:defRPr>
            </a:pPr>
            <a:r>
              <a:t>Start Small. Build Often. Ask for Help.</a:t>
            </a:r>
          </a:p>
        </p:txBody>
      </p:sp>
      <p:sp>
        <p:nvSpPr>
          <p:cNvPr id="7" name="Rectangle 6"/>
          <p:cNvSpPr/>
          <p:nvPr/>
        </p:nvSpPr>
        <p:spPr>
          <a:xfrm>
            <a:off x="4572000" y="3566160"/>
            <a:ext cx="3047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3840480"/>
            <a:ext cx="9448495" cy="640080"/>
          </a:xfrm>
          <a:prstGeom prst="rect">
            <a:avLst/>
          </a:prstGeom>
          <a:noFill/>
        </p:spPr>
        <p:txBody>
          <a:bodyPr wrap="square">
            <a:spAutoFit/>
          </a:bodyPr>
          <a:lstStyle/>
          <a:p>
            <a:pPr algn="ctr">
              <a:defRPr sz="2400" b="0">
                <a:solidFill>
                  <a:srgbClr val="E9D5FF"/>
                </a:solidFill>
                <a:latin typeface="Arial"/>
              </a:defRPr>
            </a:pPr>
            <a:r>
              <a:t>Your panda guide believes in you!</a:t>
            </a:r>
          </a:p>
        </p:txBody>
      </p:sp>
      <p:sp>
        <p:nvSpPr>
          <p:cNvPr id="9" name="TextBox 8"/>
          <p:cNvSpPr txBox="1"/>
          <p:nvPr/>
        </p:nvSpPr>
        <p:spPr>
          <a:xfrm>
            <a:off x="1371600" y="5029200"/>
            <a:ext cx="9448495" cy="457200"/>
          </a:xfrm>
          <a:prstGeom prst="rect">
            <a:avLst/>
          </a:prstGeom>
          <a:noFill/>
        </p:spPr>
        <p:txBody>
          <a:bodyPr wrap="square">
            <a:spAutoFit/>
          </a:bodyPr>
          <a:lstStyle/>
          <a:p>
            <a:pPr algn="ctr">
              <a:defRPr sz="2800" b="1">
                <a:solidFill>
                  <a:srgbClr val="FBBF24"/>
                </a:solidFill>
                <a:latin typeface="Arial"/>
              </a:defRPr>
            </a:pPr>
            <a:r>
              <a:t>Questions?</a:t>
            </a:r>
          </a:p>
        </p:txBody>
      </p:sp>
      <p:sp>
        <p:nvSpPr>
          <p:cNvPr id="10" name="TextBox 9"/>
          <p:cNvSpPr txBox="1"/>
          <p:nvPr/>
        </p:nvSpPr>
        <p:spPr>
          <a:xfrm>
            <a:off x="1371600" y="5943600"/>
            <a:ext cx="9448495" cy="457200"/>
          </a:xfrm>
          <a:prstGeom prst="rect">
            <a:avLst/>
          </a:prstGeom>
          <a:noFill/>
        </p:spPr>
        <p:txBody>
          <a:bodyPr wrap="square">
            <a:spAutoFit/>
          </a:bodyPr>
          <a:lstStyle/>
          <a:p>
            <a:pPr algn="ctr">
              <a:defRPr sz="1400" b="0">
                <a:solidFill>
                  <a:srgbClr val="C4B5FD"/>
                </a:solidFill>
                <a:latin typeface="Arial"/>
              </a:defRPr>
            </a:pPr>
            <a:r>
              <a:t>Built with Claude Code  ·  Powered by curiosity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1633</Words>
  <Application>Microsoft Macintosh PowerPoint</Application>
  <PresentationFormat>Widescreen</PresentationFormat>
  <Paragraphs>228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Ionut Moraru</cp:lastModifiedBy>
  <cp:revision>2</cp:revision>
  <dcterms:created xsi:type="dcterms:W3CDTF">2013-01-27T09:14:16Z</dcterms:created>
  <dcterms:modified xsi:type="dcterms:W3CDTF">2026-03-24T11:16:38Z</dcterms:modified>
  <cp:category/>
</cp:coreProperties>
</file>